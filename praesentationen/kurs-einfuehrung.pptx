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66" r:id="rId5"/>
    <p:sldId id="270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illkommen" id="{B4A65B84-22E0-6FDC-797F-821D871EB52A}">
          <p14:sldIdLst>
            <p14:sldId id="256"/>
            <p14:sldId id="257"/>
            <p14:sldId id="269"/>
            <p14:sldId id="266"/>
            <p14:sldId id="270"/>
          </p14:sldIdLst>
        </p14:section>
        <p14:section name="Ziel" id="{FE7FE99F-6FD8-595F-9C95-20DDC4896F53}">
          <p14:sldIdLst>
            <p14:sldId id="258"/>
            <p14:sldId id="259"/>
          </p14:sldIdLst>
        </p14:section>
        <p14:section name="Aufbau" id="{14470374-AC4B-459E-D5BD-50687C8B091B}">
          <p14:sldIdLst>
            <p14:sldId id="260"/>
            <p14:sldId id="261"/>
          </p14:sldIdLst>
        </p14:section>
        <p14:section name="Zusammenarbeit" id="{D8FEF93D-FE9B-0F20-2F59-2CC5A43BA9BC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1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68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Begrüssung. Kursleitung und PAT Cloud Solutions kurz vorstellen. Die ganze Einführung dauert ca. 15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Vorstellungsrunde, pro Person höchstens 30 Sekunden. Erwartungen notieren und an Tag 5 im Feedback wieder aufgreifen. Vorwissen zu VMs folgt im Einstieg von Tag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das Abschlussprojekt an Tag 5. Hier nur das Bild zeigen – Auftrag, Abgabe und Präsentation stehen in der Präsentation von Tag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fünf Kursziele aus kurs/organisation.md. K2 = verstehen und erklären, K3 = selbst anwenden.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Roter Faden: von der VM auf dem eigenen Laptop zur automatisierten Umgebung in der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 Frontalunterricht. Fragen sind jederzeit willkommen. Unterrichtszeiten und Pausen hier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Lernjournal-Format zeigen (Markdown, OneNote oder Word – nach Absprache).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Alles läuft im Browser oder kommt von selbst. Ausser Multipass ist nichts zu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Gilt ab Tag 2. Heute arbeiten alle nur lokal mit Multipass.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7a6b8eb-22f3-4b42-aecc-5af05d1502b1\scratchpad\folien\assets\logo-dunk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7a6b8eb-22f3-4b42-aecc-5af05d1502b1\scratchpad\folien\assets\wol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27303A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006FAD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F6F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7a6b8eb-22f3-4b42-aecc-5af05d1502b1\scratchpad\folien\assets\wol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7a6b8eb-22f3-4b42-aecc-5af05d1502b1\scratchpad\folien\assets\logo-dunk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27303A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006FAD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7a6b8eb-22f3-4b42-aecc-5af05d1502b1\scratchpad\folien\assets\logo-dunk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7a6b8eb-22f3-4b42-aecc-5af05d1502b1\scratchpad\folien\assets\logo-dunk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27303A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006FAD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7303A"/>
                </a:solidFill>
              </a:rPr>
              <a:t>Einführung in Cloud Computing mit Microsoft Azure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6FAD"/>
                </a:solidFill>
              </a:rPr>
              <a:t>Kurseinführung · 5 Kurstage · PAT Cloud Solutions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7303A"/>
                </a:solidFill>
              </a:rPr>
              <a:t>Wer bist du?</a:t>
            </a:r>
            <a:endParaRPr lang="en-US" sz="3400" dirty="0"/>
          </a:p>
        </p:txBody>
      </p:sp>
      <p:sp>
        <p:nvSpPr>
          <p:cNvPr id="3" name="icon-kreis-FaUsers"/>
          <p:cNvSpPr/>
          <p:nvPr/>
        </p:nvSpPr>
        <p:spPr>
          <a:xfrm>
            <a:off x="1454162" y="247576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con-FaUsers" descr="C:\Users\Thanam\AppData\Local\Temp\claude\c--Projekt-Trainings-azure-basics-training\a7a6b8eb-22f3-4b42-aecc-5af05d1502b1\scratchpad\folien\assets\icons\Fa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836" y="260743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231403" y="2270020"/>
            <a:ext cx="5809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303A"/>
                </a:solidFill>
              </a:rPr>
              <a:t>Name und Lehrbetrieb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6F6F6F"/>
                </a:solidFill>
              </a:rPr>
              <a:t>In welcher Firma machst du deine Lehre?</a:t>
            </a:r>
            <a:endParaRPr lang="en-US" sz="1800" dirty="0"/>
          </a:p>
        </p:txBody>
      </p:sp>
      <p:sp>
        <p:nvSpPr>
          <p:cNvPr id="6" name="icon-kreis-FaWrench"/>
          <p:cNvSpPr/>
          <p:nvPr/>
        </p:nvSpPr>
        <p:spPr>
          <a:xfrm>
            <a:off x="1454162" y="343588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con-FaWrench" descr="C:\Users\Thanam\AppData\Local\Temp\claude\c--Projekt-Trainings-azure-basics-training\a7a6b8eb-22f3-4b42-aecc-5af05d1502b1\scratchpad\folien\assets\icons\Fa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836" y="356755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31403" y="3230140"/>
            <a:ext cx="54901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303A"/>
                </a:solidFill>
              </a:rPr>
              <a:t>Dein Alltag im Betrieb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6F6F6F"/>
                </a:solidFill>
              </a:rPr>
              <a:t>Was machst du dort am häufigsten?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E2EBE-08E7-6CAF-4126-CD986B7B298B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de-DE" dirty="0"/>
              <a:t>Aufstellung: Wie viel Azure-Erfahrung hast du?</a:t>
            </a:r>
          </a:p>
        </p:txBody>
      </p:sp>
      <p:sp>
        <p:nvSpPr>
          <p:cNvPr id="10" name="anleitung"/>
          <p:cNvSpPr/>
          <p:nvPr/>
        </p:nvSpPr>
        <p:spPr>
          <a:xfrm>
            <a:off x="546100" y="1270000"/>
            <a:ext cx="1109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000" dirty="0">
                <a:solidFill>
                  <a:srgbClr val="27303A"/>
                </a:solidFill>
              </a:rPr>
              <a:t>Stell dich an die Position im Raum, die zu dir passt: Level 1–4 in den Ecken, Level 5 in der Mitte.</a:t>
            </a:r>
          </a:p>
        </p:txBody>
      </p:sp>
      <p:sp>
        <p:nvSpPr>
          <p:cNvPr id="11" name="raum"/>
          <p:cNvSpPr/>
          <p:nvPr/>
        </p:nvSpPr>
        <p:spPr>
          <a:xfrm>
            <a:off x="546100" y="1752600"/>
            <a:ext cx="11099800" cy="44196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6F6F6F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2" name="level-1-karte"/>
          <p:cNvSpPr/>
          <p:nvPr/>
        </p:nvSpPr>
        <p:spPr>
          <a:xfrm>
            <a:off x="723900" y="1930400"/>
            <a:ext cx="4318000" cy="127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" name="level-1-kreis"/>
          <p:cNvSpPr/>
          <p:nvPr/>
        </p:nvSpPr>
        <p:spPr>
          <a:xfrm>
            <a:off x="927100" y="2286000"/>
            <a:ext cx="558800" cy="558800"/>
          </a:xfrm>
          <a:prstGeom prst="ellipse">
            <a:avLst/>
          </a:prstGeom>
          <a:solidFill>
            <a:srgbClr val="006FA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de-DE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level-1-text"/>
          <p:cNvSpPr/>
          <p:nvPr/>
        </p:nvSpPr>
        <p:spPr>
          <a:xfrm>
            <a:off x="1689100" y="2082800"/>
            <a:ext cx="3149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de-DE" sz="1800" b="1" dirty="0">
                <a:solidFill>
                  <a:srgbClr val="27303A"/>
                </a:solidFill>
              </a:rPr>
              <a:t>Level 1 · Keine Ahnung</a:t>
            </a:r>
          </a:p>
          <a:p>
            <a:pPr marL="0" indent="0">
              <a:buNone/>
            </a:pPr>
            <a:r>
              <a:rPr lang="de-DE" sz="1400" dirty="0">
                <a:solidFill>
                  <a:srgbClr val="27303A"/>
                </a:solidFill>
              </a:rPr>
              <a:t>Ich habe noch nie mit Azure gearbeitet.</a:t>
            </a:r>
          </a:p>
        </p:txBody>
      </p:sp>
      <p:sp>
        <p:nvSpPr>
          <p:cNvPr id="15" name="level-2-karte"/>
          <p:cNvSpPr/>
          <p:nvPr/>
        </p:nvSpPr>
        <p:spPr>
          <a:xfrm>
            <a:off x="7150100" y="1930400"/>
            <a:ext cx="4318000" cy="127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6" name="level-2-kreis"/>
          <p:cNvSpPr/>
          <p:nvPr/>
        </p:nvSpPr>
        <p:spPr>
          <a:xfrm>
            <a:off x="7353300" y="2286000"/>
            <a:ext cx="558800" cy="558800"/>
          </a:xfrm>
          <a:prstGeom prst="ellipse">
            <a:avLst/>
          </a:prstGeom>
          <a:solidFill>
            <a:srgbClr val="006FA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de-DE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evel-2-text"/>
          <p:cNvSpPr/>
          <p:nvPr/>
        </p:nvSpPr>
        <p:spPr>
          <a:xfrm>
            <a:off x="8115300" y="2082800"/>
            <a:ext cx="3149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de-DE" sz="1800" b="1" dirty="0">
                <a:solidFill>
                  <a:srgbClr val="27303A"/>
                </a:solidFill>
              </a:rPr>
              <a:t>Level 2 · Schulwissen</a:t>
            </a:r>
          </a:p>
          <a:p>
            <a:pPr marL="0" indent="0">
              <a:buNone/>
            </a:pPr>
            <a:r>
              <a:rPr lang="de-DE" sz="1400" dirty="0">
                <a:solidFill>
                  <a:srgbClr val="27303A"/>
                </a:solidFill>
              </a:rPr>
              <a:t>Kein Azure im Betrieb, in der Schule wenig damit zu tun gehabt.</a:t>
            </a:r>
          </a:p>
        </p:txBody>
      </p:sp>
      <p:sp>
        <p:nvSpPr>
          <p:cNvPr id="18" name="level-3-karte"/>
          <p:cNvSpPr/>
          <p:nvPr/>
        </p:nvSpPr>
        <p:spPr>
          <a:xfrm>
            <a:off x="7150100" y="4724400"/>
            <a:ext cx="4318000" cy="127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9" name="level-3-kreis"/>
          <p:cNvSpPr/>
          <p:nvPr/>
        </p:nvSpPr>
        <p:spPr>
          <a:xfrm>
            <a:off x="7353300" y="5080000"/>
            <a:ext cx="558800" cy="558800"/>
          </a:xfrm>
          <a:prstGeom prst="ellipse">
            <a:avLst/>
          </a:prstGeom>
          <a:solidFill>
            <a:srgbClr val="006FA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de-DE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level-3-text"/>
          <p:cNvSpPr/>
          <p:nvPr/>
        </p:nvSpPr>
        <p:spPr>
          <a:xfrm>
            <a:off x="8115300" y="4876800"/>
            <a:ext cx="3149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de-DE" sz="1800" b="1" dirty="0">
                <a:solidFill>
                  <a:srgbClr val="27303A"/>
                </a:solidFill>
              </a:rPr>
              <a:t>Level 3 · Lehrbetrieb</a:t>
            </a:r>
          </a:p>
          <a:p>
            <a:pPr marL="0" indent="0">
              <a:buNone/>
            </a:pPr>
            <a:r>
              <a:rPr lang="de-DE" sz="1400" dirty="0">
                <a:solidFill>
                  <a:srgbClr val="27303A"/>
                </a:solidFill>
              </a:rPr>
              <a:t>Mein Betrieb nutzt Azure, ich habe aber kaum Berührungspunkte.</a:t>
            </a:r>
          </a:p>
        </p:txBody>
      </p:sp>
      <p:sp>
        <p:nvSpPr>
          <p:cNvPr id="21" name="level-4-karte"/>
          <p:cNvSpPr/>
          <p:nvPr/>
        </p:nvSpPr>
        <p:spPr>
          <a:xfrm>
            <a:off x="723900" y="4724400"/>
            <a:ext cx="4318000" cy="127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" name="level-4-kreis"/>
          <p:cNvSpPr/>
          <p:nvPr/>
        </p:nvSpPr>
        <p:spPr>
          <a:xfrm>
            <a:off x="927100" y="5080000"/>
            <a:ext cx="558800" cy="558800"/>
          </a:xfrm>
          <a:prstGeom prst="ellipse">
            <a:avLst/>
          </a:prstGeom>
          <a:solidFill>
            <a:srgbClr val="006FA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de-DE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level-4-text"/>
          <p:cNvSpPr/>
          <p:nvPr/>
        </p:nvSpPr>
        <p:spPr>
          <a:xfrm>
            <a:off x="1689100" y="4876800"/>
            <a:ext cx="3149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de-DE" sz="1800" b="1" dirty="0">
                <a:solidFill>
                  <a:srgbClr val="27303A"/>
                </a:solidFill>
              </a:rPr>
              <a:t>Level 4 · Regelmässig</a:t>
            </a:r>
          </a:p>
          <a:p>
            <a:pPr marL="0" indent="0">
              <a:buNone/>
            </a:pPr>
            <a:r>
              <a:rPr lang="de-DE" sz="1400" dirty="0">
                <a:solidFill>
                  <a:srgbClr val="27303A"/>
                </a:solidFill>
              </a:rPr>
              <a:t>Ich arbeite regelmässig mit Azure.</a:t>
            </a:r>
          </a:p>
        </p:txBody>
      </p:sp>
      <p:sp>
        <p:nvSpPr>
          <p:cNvPr id="24" name="level-5-karte"/>
          <p:cNvSpPr/>
          <p:nvPr/>
        </p:nvSpPr>
        <p:spPr>
          <a:xfrm>
            <a:off x="4191000" y="3454400"/>
            <a:ext cx="3810000" cy="1016000"/>
          </a:xfrm>
          <a:prstGeom prst="roundRect">
            <a:avLst>
              <a:gd name="adj" fmla="val 6000"/>
            </a:avLst>
          </a:prstGeom>
          <a:solidFill>
            <a:srgbClr val="006FAD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5" name="level-5-kreis"/>
          <p:cNvSpPr/>
          <p:nvPr/>
        </p:nvSpPr>
        <p:spPr>
          <a:xfrm>
            <a:off x="4394200" y="3683000"/>
            <a:ext cx="558800" cy="55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de-DE" sz="2000" b="1" dirty="0">
                <a:solidFill>
                  <a:srgbClr val="006FAD"/>
                </a:solidFill>
              </a:rPr>
              <a:t>5</a:t>
            </a:r>
          </a:p>
        </p:txBody>
      </p:sp>
      <p:sp>
        <p:nvSpPr>
          <p:cNvPr id="26" name="level-5-text"/>
          <p:cNvSpPr/>
          <p:nvPr/>
        </p:nvSpPr>
        <p:spPr>
          <a:xfrm>
            <a:off x="5156200" y="3606800"/>
            <a:ext cx="2641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de-DE" sz="1800" b="1" dirty="0">
                <a:solidFill>
                  <a:srgbClr val="FFFFFF"/>
                </a:solidFill>
              </a:rPr>
              <a:t>Level 5 · Profi</a:t>
            </a:r>
          </a:p>
          <a:p>
            <a:pPr marL="0" indent="0">
              <a:buNone/>
            </a:pPr>
            <a:r>
              <a:rPr lang="de-DE" sz="1400" dirty="0">
                <a:solidFill>
                  <a:srgbClr val="FFFFFF"/>
                </a:solidFill>
              </a:rPr>
              <a:t>Ich bin ein Azure-Profi.</a:t>
            </a:r>
          </a:p>
        </p:txBody>
      </p:sp>
    </p:spTree>
    <p:extLst>
      <p:ext uri="{BB962C8B-B14F-4D97-AF65-F5344CB8AC3E}">
        <p14:creationId xmlns:p14="http://schemas.microsoft.com/office/powerpoint/2010/main" val="3352866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CB0D-1953-2306-F88B-FEFD1CFFB10E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de-CH" dirty="0" err="1"/>
              <a:t>Mentimeter</a:t>
            </a:r>
            <a:r>
              <a:rPr lang="de-CH" dirty="0"/>
              <a:t> Umfrage: Deine Erwartungen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C9866-35EC-EDB4-CC8B-2B40A7096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047" y="2171352"/>
            <a:ext cx="2515296" cy="2515296"/>
          </a:xfrm>
          <a:prstGeom prst="rect">
            <a:avLst/>
          </a:prstGeom>
        </p:spPr>
      </p:pic>
      <p:sp>
        <p:nvSpPr>
          <p:cNvPr id="5" name="icon-kreis-FaFlagCheckered">
            <a:extLst>
              <a:ext uri="{FF2B5EF4-FFF2-40B4-BE49-F238E27FC236}">
                <a16:creationId xmlns:a16="http://schemas.microsoft.com/office/drawing/2014/main" id="{1A1B2B5C-8CF3-0103-96FB-918FF346A788}"/>
              </a:ext>
            </a:extLst>
          </p:cNvPr>
          <p:cNvSpPr/>
          <p:nvPr/>
        </p:nvSpPr>
        <p:spPr>
          <a:xfrm>
            <a:off x="1228954" y="3061243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con-FaFlagCheckered" descr="C:\Users\Thanam\AppData\Local\Temp\claude\c--Projekt-Trainings-azure-basics-training\a7a6b8eb-22f3-4b42-aecc-5af05d1502b1\scratchpad\folien\assets\icons\FaFlagCheckered.png">
            <a:extLst>
              <a:ext uri="{FF2B5EF4-FFF2-40B4-BE49-F238E27FC236}">
                <a16:creationId xmlns:a16="http://schemas.microsoft.com/office/drawing/2014/main" id="{0A55C237-7BE3-DBE5-5EB1-4628D5F59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628" y="3192917"/>
            <a:ext cx="285293" cy="28529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EB5916DE-70F6-16D2-3737-F2182D66E857}"/>
              </a:ext>
            </a:extLst>
          </p:cNvPr>
          <p:cNvSpPr txBox="1"/>
          <p:nvPr/>
        </p:nvSpPr>
        <p:spPr>
          <a:xfrm>
            <a:off x="2006194" y="294894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303A"/>
                </a:solidFill>
              </a:rPr>
              <a:t>Deine Erwartung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6F6F6F"/>
                </a:solidFill>
              </a:rPr>
              <a:t>Was möchtest du nach dem Kurs </a:t>
            </a:r>
            <a:r>
              <a:rPr lang="en-US" sz="1800" dirty="0" err="1">
                <a:solidFill>
                  <a:srgbClr val="6F6F6F"/>
                </a:solidFill>
              </a:rPr>
              <a:t>können</a:t>
            </a:r>
            <a:r>
              <a:rPr lang="en-US" sz="1800" dirty="0">
                <a:solidFill>
                  <a:srgbClr val="6F6F6F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35243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64D0-BDBE-465B-36A6-4921E8694E30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de-CH" dirty="0"/>
              <a:t>Kurs-Trainer stellt sich vor</a:t>
            </a:r>
            <a:endParaRPr lang="de-DE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68F0A13-A527-6FBC-9F95-26FEA5633672}"/>
              </a:ext>
            </a:extLst>
          </p:cNvPr>
          <p:cNvSpPr txBox="1"/>
          <p:nvPr/>
        </p:nvSpPr>
        <p:spPr>
          <a:xfrm>
            <a:off x="2660883" y="3200400"/>
            <a:ext cx="6869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6FAD"/>
                </a:solidFill>
              </a:rPr>
              <a:t>Thanam Pangri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41792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7303A"/>
                </a:solidFill>
              </a:rPr>
              <a:t>Das Ziel des Kurses</a:t>
            </a:r>
            <a:endParaRPr lang="en-US" sz="3400" dirty="0"/>
          </a:p>
        </p:txBody>
      </p:sp>
      <p:sp>
        <p:nvSpPr>
          <p:cNvPr id="3" name="vergleich-box"/>
          <p:cNvSpPr/>
          <p:nvPr/>
        </p:nvSpPr>
        <p:spPr>
          <a:xfrm>
            <a:off x="548640" y="1508760"/>
            <a:ext cx="11094415" cy="2743200"/>
          </a:xfrm>
          <a:prstGeom prst="roundRect">
            <a:avLst>
              <a:gd name="adj" fmla="val 5000"/>
            </a:avLst>
          </a:prstGeom>
          <a:solidFill>
            <a:srgbClr val="DEE2FB"/>
          </a:solidFill>
          <a:ln w="12700">
            <a:solidFill>
              <a:srgbClr val="DEE2F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icon-kreis-FaFlagCheckered"/>
          <p:cNvSpPr/>
          <p:nvPr/>
        </p:nvSpPr>
        <p:spPr>
          <a:xfrm>
            <a:off x="1005840" y="2240280"/>
            <a:ext cx="1280160" cy="128016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con-FaFlagCheckered" descr="C:\Users\Thanam\AppData\Local\Temp\claude\c--Projekt-Trainings-azure-basics-training\a7a6b8eb-22f3-4b42-aecc-5af05d1502b1\scratchpad\folien\assets\icons\FaFlagCheck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78" y="2547518"/>
            <a:ext cx="665683" cy="6656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51760" y="1691640"/>
            <a:ext cx="8625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7303A"/>
                </a:solidFill>
              </a:rPr>
              <a:t>Am letzten Kurstag stellst du eine komplette Umgebung in Azure mit einem einzigen Befehl bereit: Netzwerk, Firewall und Webserver.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26280"/>
            <a:ext cx="110944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Du startest auf deinem eigenen Laptop und gehst Schritt für Schritt in die Cloud.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Die fiktive Firma «Velo Zürich AG» begleitet dich durch den ganzen Kurs.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An Tag 5 baust du das im Abschlussprojekt zu zweit und stellst es kurz vor.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7303A"/>
                </a:solidFill>
              </a:rPr>
              <a:t>Nach dem Kurs kannst du …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1325880"/>
            <a:ext cx="351525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icon-kreis-FaLayerGroup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con-FaLayerGroup" descr="C:\Users\Thanam\AppData\Local\Temp\claude\c--Projekt-Trainings-azure-basics-training\a7a6b8eb-22f3-4b42-aecc-5af05d1502b1\scratchpad\folien\assets\icons\Fa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Virtualisierung (K2)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Hypervisor und VM erklären und beschreiben, wie eine Cloud-Plattform funktioniert.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1325880"/>
            <a:ext cx="351525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icon-kreis-FaCubes"/>
          <p:cNvSpPr/>
          <p:nvPr/>
        </p:nvSpPr>
        <p:spPr>
          <a:xfrm>
            <a:off x="4612538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con-FaCubes" descr="C:\Users\Thanam\AppData\Local\Temp\claude\c--Projekt-Trainings-azure-basics-training\a7a6b8eb-22f3-4b42-aecc-5af05d1502b1\scratchpad\folien\assets\icons\FaCub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158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160020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IaaS, PaaS, SaaS (K2)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die Betriebsmodelle unterscheiden und Beispiele zuordnen.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1325880"/>
            <a:ext cx="351525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icon-kreis-FaServer"/>
          <p:cNvSpPr/>
          <p:nvPr/>
        </p:nvSpPr>
        <p:spPr>
          <a:xfrm>
            <a:off x="8402117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5" name="icon-FaServer" descr="C:\Users\Thanam\AppData\Local\Temp\claude\c--Projekt-Trainings-azure-basics-training\a7a6b8eb-22f3-4b42-aecc-5af05d1502b1\scratchpad\folien\assets\icons\Fa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736" y="17538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160020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Azure-Ressourcen (K2)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die wichtigsten Ressourcen für Speicher, Rechenleistung und Netzwerk erklären.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548640" y="3817620"/>
            <a:ext cx="351525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icon-kreis-FaNetworkWired"/>
          <p:cNvSpPr/>
          <p:nvPr/>
        </p:nvSpPr>
        <p:spPr>
          <a:xfrm>
            <a:off x="822960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" name="icon-FaNetworkWired" descr="C:\Users\Thanam\AppData\Local\Temp\claude\c--Projekt-Trainings-azure-basics-training\a7a6b8eb-22f3-4b42-aecc-5af05d1502b1\scratchpad\folien\assets\icons\FaNetworkWi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" y="4245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0919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Azure-Umgebung (K3)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14900"/>
            <a:ext cx="29666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Speicherkonto (Storage Account), VM, VNet, Subnetz (Subnet) und NSG bereitstellen und löschen.</a:t>
            </a:r>
            <a:endParaRPr lang="en-US" sz="1600" dirty="0"/>
          </a:p>
        </p:txBody>
      </p:sp>
      <p:sp>
        <p:nvSpPr>
          <p:cNvPr id="23" name="karte"/>
          <p:cNvSpPr/>
          <p:nvPr/>
        </p:nvSpPr>
        <p:spPr>
          <a:xfrm>
            <a:off x="4338218" y="3817620"/>
            <a:ext cx="351525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icon-kreis-FaRocket"/>
          <p:cNvSpPr/>
          <p:nvPr/>
        </p:nvSpPr>
        <p:spPr>
          <a:xfrm>
            <a:off x="4612538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5" name="icon-FaRocket" descr="C:\Users\Thanam\AppData\Local\Temp\claude\c--Projekt-Trainings-azure-basics-training\a7a6b8eb-22f3-4b42-aecc-5af05d1502b1\scratchpad\folien\assets\icons\Fa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158" y="424555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35498" y="40919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Automatisierung (K3)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14900"/>
            <a:ext cx="29666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eine VM mit Azure CLI, Bicep und cloud-init automatisch bereitstellen.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7303A"/>
                </a:solidFill>
              </a:rPr>
              <a:t>Der Kurs im Überblick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2621280"/>
        </p:xfrm>
        <a:graphic>
          <a:graphicData uri="http://schemas.openxmlformats.org/drawingml/2006/table">
            <a:tbl>
              <a:tblPr/>
              <a:tblGrid>
                <a:gridCol w="1008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4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Tag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Schwerpunkt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Du baust …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Grundlagen Virtualisierung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lokale VMs mit Multipass, deine erste automatische VM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Public Cloud und Azure Grundlagen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deine ersten Azure-Ressourcen im Portal und mit der Azure CLI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 Compute und Storage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eine Linux-VM in Azure und ein Speicherkonto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 Networking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 VNet mit Subnetzen und NSG-Regeln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Automatisierung mit Bicep und cloud-init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eine komplette Umgebung als Code – Abschlussprojekt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6FAD"/>
                </a:solidFill>
              </a:rPr>
              <a:t>Jeder Tag baut auf dem vorherigen auf: vom Laptop in die Cloud.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7303A"/>
                </a:solidFill>
              </a:rPr>
              <a:t>So läuft ein Kurstag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1747520"/>
        </p:xfrm>
        <a:graphic>
          <a:graphicData uri="http://schemas.openxmlformats.org/drawingml/2006/table">
            <a:tbl>
              <a:tblPr/>
              <a:tblGrid>
                <a:gridCol w="1530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5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8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Anteil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Was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Wie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ca. 15 %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Einstieg, Rückblick, Abschluss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Rückblick-Quiz zum letzten Kurstag, Exit-Ticket zum Schluss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ca. 15 %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Inputs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2–3 kurze Inputs à max. 20 Min., immer mit Live-Demo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ca. 70 %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Aufträge einzeln oder zu zweit, die Kursleitung coacht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605793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FAD"/>
                </a:solidFill>
              </a:rPr>
              <a:t>8 </a:t>
            </a:r>
            <a:r>
              <a:rPr lang="en-US" sz="3200" b="1" dirty="0">
                <a:solidFill>
                  <a:srgbClr val="006FAD"/>
                </a:solidFill>
              </a:rPr>
              <a:t>Lektionen</a:t>
            </a:r>
            <a:r>
              <a:rPr lang="en-US" sz="2800" b="1" dirty="0">
                <a:solidFill>
                  <a:srgbClr val="006FAD"/>
                </a:solidFill>
              </a:rPr>
              <a:t> à 45 Minuten pro Kurstag. Die Kurstage </a:t>
            </a:r>
            <a:r>
              <a:rPr lang="en-US" sz="2800" b="1" dirty="0" err="1">
                <a:solidFill>
                  <a:srgbClr val="006FAD"/>
                </a:solidFill>
              </a:rPr>
              <a:t>sind</a:t>
            </a:r>
            <a:r>
              <a:rPr lang="en-US" sz="2800" b="1" dirty="0">
                <a:solidFill>
                  <a:srgbClr val="006FAD"/>
                </a:solidFill>
              </a:rPr>
              <a:t> </a:t>
            </a:r>
            <a:r>
              <a:rPr lang="en-US" sz="2800" b="1" dirty="0" err="1">
                <a:solidFill>
                  <a:srgbClr val="006FAD"/>
                </a:solidFill>
              </a:rPr>
              <a:t>verteilt</a:t>
            </a:r>
            <a:r>
              <a:rPr lang="en-US" sz="2800" b="1" dirty="0">
                <a:solidFill>
                  <a:srgbClr val="006FAD"/>
                </a:solidFill>
              </a:rPr>
              <a:t>. 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006FAD"/>
                </a:solidFill>
              </a:rPr>
              <a:t>Dein Lernjournal hilft dir beim Wiedereinstieg.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7303A"/>
                </a:solidFill>
              </a:rPr>
              <a:t>So arbeiten wir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icon-kreis-FaPencilAlt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con-FaPencilAlt" descr="C:\Users\Thanam\AppData\Local\Temp\claude\c--Projekt-Trainings-azure-basics-training\a7a6b8eb-22f3-4b42-aecc-5af05d1502b1\scratchpad\folien\assets\icons\FaPencil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Lernjournal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Pro Auftrag: Befehle, Screenshot als Nachweis (ohne persönliche Daten), was nicht geklappt hat.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icon-kreis-FaUsers"/>
          <p:cNvSpPr/>
          <p:nvPr/>
        </p:nvSpPr>
        <p:spPr>
          <a:xfrm>
            <a:off x="6507328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con-FaUsers" descr="C:\Users\Thanam\AppData\Local\Temp\claude\c--Projekt-Trainings-azure-basics-training\a7a6b8eb-22f3-4b42-aecc-5af05d1502b1\scratchpad\folien\assets\icons\Fa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Partnerarbeit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Driver tippt, Navigator liest und kontrolliert. Nach jedem Auftrag wechseln.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548640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icon-kreis-FaClock"/>
          <p:cNvSpPr/>
          <p:nvPr/>
        </p:nvSpPr>
        <p:spPr>
          <a:xfrm>
            <a:off x="822960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5" name="icon-FaClock" descr="C:\Users\Thanam\AppData\Local\Temp\claude\c--Projekt-Trainings-azure-basics-training\a7a6b8eb-22f3-4b42-aecc-5af05d1502b1\scratchpad\folien\assets\icons\Fa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2455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Hilfe holen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10 Minuten selbst probieren, dann Partner fragen, dann Kursleitung.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6233008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icon-kreis-FaDoorOpen"/>
          <p:cNvSpPr/>
          <p:nvPr/>
        </p:nvSpPr>
        <p:spPr>
          <a:xfrm>
            <a:off x="6507328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" name="icon-FaDoorOpen" descr="C:\Users\Thanam\AppData\Local\Temp\claude\c--Projekt-Trainings-azure-basics-training\a7a6b8eb-22f3-4b42-aecc-5af05d1502b1\scratchpad\folien\assets\icons\FaDoorO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947" y="4245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30288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Exit-Ticket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Am Ende jedes Tages eine kurze Frage, 1–3 Sätze. Keine Note.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7303A"/>
                </a:solidFill>
              </a:rPr>
              <a:t>Deine Werkzeuge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icon-kreis-FaLaptop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con-FaLaptop" descr="C:\Users\Thanam\AppData\Local\Temp\claude\c--Projekt-Trainings-azure-basics-training\a7a6b8eb-22f3-4b42-aecc-5af05d1502b1\scratchpad\folien\assets\icons\Fa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Multipass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Tag 1: VMs auf deinem Laptop – Ubuntu lädt es selbst herunter.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icon-kreis-FaTerminal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con-FaTerminal" descr="C:\Users\Thanam\AppData\Local\Temp\claude\c--Projekt-Trainings-azure-basics-training\a7a6b8eb-22f3-4b42-aecc-5af05d1502b1\scratchpad\folien\assets\icons\Fa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Portal, Cloud Shell, Azure CLI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Ab Tag 2: Azure im Browser und mit Befehlen steuern.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icon-kreis-FaCode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5" name="icon-FaCode" descr="C:\Users\Thanam\AppData\Local\Temp\claude\c--Projekt-Trainings-azure-basics-training\a7a6b8eb-22f3-4b42-aecc-5af05d1502b1\scratchpad\folien\assets\icons\Fa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Bicep und cloud-init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Tag 5: Infrastruktur und Einrichtung in Dateien beschreiben.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7303A"/>
                </a:solidFill>
              </a:rPr>
              <a:t>Spielregeln für Azure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icon-kreis-FaCoins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con-FaCoins" descr="C:\Users\Thanam\AppData\Local\Temp\claude\c--Projekt-Trainings-azure-basics-training\a7a6b8eb-22f3-4b42-aecc-5af05d1502b1\scratchpad\folien\assets\icons\Fa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Guthaben schonen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Azure for Students hat begrenztes Guthaben. Erstelle nur, was der Auftrag verlangt.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icon-kreis-FaTrashAlt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con-FaTrashAlt" descr="C:\Users\Thanam\AppData\Local\Temp\claude\c--Projekt-Trainings-azure-basics-training\a7a6b8eb-22f3-4b42-aecc-5af05d1502b1\scratchpad\folien\assets\icons\FaTrash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Immer aufräumen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Am Ende jedes Azure-Auftrags die Ressourcengruppe (Resource Group) löschen.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icon-kreis-FaUserShield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5" name="icon-FaUserShield" descr="C:\Users\Thanam\AppData\Local\Temp\claude\c--Projekt-Trainings-azure-basics-training\a7a6b8eb-22f3-4b42-aecc-5af05d1502b1\scratchpad\folien\assets\icons\Fa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7303A"/>
                </a:solidFill>
              </a:rPr>
              <a:t>Keine echten Daten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Nur die fiktive Firma «Velo Zürich AG». Keine persönlichen Daten auf Screenshots.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7303A"/>
                </a:solidFill>
              </a:rPr>
              <a:t>Los geht's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6FAD"/>
                </a:solidFill>
              </a:rPr>
              <a:t>Tag 1 · Grundlagen Virtualisierung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D4D1AA-DB85-41A5-BEE0-BE3E385A2BD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c3f7c619-090b-49ce-9b95-0963afd755c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Microsoft Office PowerPoint</Application>
  <PresentationFormat>Widescreen</PresentationFormat>
  <Paragraphs>132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PAT Cloud Solutions</vt:lpstr>
      <vt:lpstr>Einführung in Cloud Computing mit Microsoft Azure</vt:lpstr>
      <vt:lpstr>Wer bist du?</vt:lpstr>
      <vt:lpstr>Aufstellung: Wie viel Azure-Erfahrung hast du?</vt:lpstr>
      <vt:lpstr>Mentimeter Umfrage: Deine Erwartungen</vt:lpstr>
      <vt:lpstr>Kurs-Trainer stellt sich vor</vt:lpstr>
      <vt:lpstr>Das Ziel des Kurses</vt:lpstr>
      <vt:lpstr>Nach dem Kurs kannst du …</vt:lpstr>
      <vt:lpstr>Der Kurs im Überblick</vt:lpstr>
      <vt:lpstr>So läuft ein Kurstag</vt:lpstr>
      <vt:lpstr>So arbeiten wir</vt:lpstr>
      <vt:lpstr>Deine Werkzeuge</vt:lpstr>
      <vt:lpstr>Spielregeln für Azure</vt:lpstr>
      <vt:lpstr>Los geht's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Kurseinführung: Einführung in Cloud Computing mit Microsoft Azure</dc:title>
  <dc:subject>PptxGenJS Presentation</dc:subject>
  <dc:creator>PAT Cloud Solutions</dc:creator>
  <cp:lastModifiedBy>Thanam Pangri</cp:lastModifiedBy>
  <cp:revision>9</cp:revision>
  <dcterms:created xsi:type="dcterms:W3CDTF">2026-10-25T19:18:33Z</dcterms:created>
  <dcterms:modified xsi:type="dcterms:W3CDTF">2026-10-25T20:04:29Z</dcterms:modified>
</cp:coreProperties>
</file>