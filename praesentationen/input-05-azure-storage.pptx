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orage" id="{17f79585-a30e-4898-c58f-cd38b0831c19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Theorie: theorie/05-azure-storage.md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Live-Demo: Storage Account anlegen, Container erstellen, Datei hochladen, URL zeigen.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der Cloud wird eine VM ersetzt statt repariert. Daten gehören auf Speicher, der unabhängig von der VM existiert.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Weg – besser Blob Storage. Nur Kleinbuchstaben und Ziffern. Archive.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27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hanam\AppData\Local\Temp\claude\c--Projekt-Trainings-azure-basics-training\a9e0bf4e-0d08-4082-a38a-5b8886538508\scratchpad\pptx\assets\logo-h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2468880" cy="640080"/>
          </a:xfrm>
          <a:prstGeom prst="rect">
            <a:avLst/>
          </a:prstGeom>
        </p:spPr>
      </p:pic>
      <p:pic>
        <p:nvPicPr>
          <p:cNvPr id="3" name="Image 1" descr="C:\Users\Thanam\AppData\Local\Temp\claude\c--Projekt-Trainings-azure-basics-training\a9e0bf4e-0d08-4082-a38a-5b8886538508\scratchpad\pptx\assets\wolk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2011680"/>
            <a:ext cx="3200400" cy="19476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2103120"/>
            <a:ext cx="75895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794760"/>
            <a:ext cx="75895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DEE2FB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6" name="Text 0"/>
          <p:cNvSpPr/>
          <p:nvPr/>
        </p:nvSpPr>
        <p:spPr>
          <a:xfrm>
            <a:off x="54864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EE2FB"/>
                </a:solidFill>
              </a:rPr>
              <a:t>Kanton Zürich · ICT-Grundbildung · PAT Cloud Solutions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PITEL">
    <p:bg>
      <p:bgPr>
        <a:solidFill>
          <a:srgbClr val="006F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hanam\AppData\Local\Temp\claude\c--Projekt-Trainings-azure-basics-training\a9e0bf4e-0d08-4082-a38a-5b8886538508\scratchpad\pptx\assets\wol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2194560"/>
            <a:ext cx="2743200" cy="1664208"/>
          </a:xfrm>
          <a:prstGeom prst="rect">
            <a:avLst/>
          </a:prstGeom>
        </p:spPr>
      </p:pic>
      <p:pic>
        <p:nvPicPr>
          <p:cNvPr id="3" name="Image 1" descr="C:\Users\Thanam\AppData\Local\Temp\claude\c--Projekt-Trainings-azure-basics-training\a9e0bf4e-0d08-4082-a38a-5b8886538508\scratchpad\pptx\assets\logo-h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263640"/>
            <a:ext cx="1371600" cy="356616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219456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703320"/>
            <a:ext cx="78638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DEE2FB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hanam\AppData\Local\Temp\claude\c--Projekt-Trainings-azure-basics-training\a9e0bf4e-0d08-4082-a38a-5b8886538508\scratchpad\pptx\assets\logo-dunk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82512"/>
            <a:ext cx="1060704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28800" y="63367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F6F"/>
                </a:solidFill>
              </a:rPr>
              <a:t>Einführung in Cloud Computing mit Microsoft Azure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27303A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E">
    <p:bg>
      <p:bgPr>
        <a:solidFill>
          <a:srgbClr val="27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hanam\AppData\Local\Temp\claude\c--Projekt-Trainings-azure-basics-training\a9e0bf4e-0d08-4082-a38a-5b8886538508\scratchpad\pptx\assets\logo-h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2468880" cy="6400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554480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603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DEE2FB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48640" y="210312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Azure Storage</a:t>
            </a:r>
            <a:endParaRPr lang="en-US" sz="44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548640" y="3794760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EE2FB"/>
                </a:solidFill>
              </a:rPr>
              <a:t>Input 2 · Tag 3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Drei Fragen an jeden Speicher</a:t>
            </a:r>
            <a:endParaRPr lang="en-US" sz="3400" dirty="0"/>
          </a:p>
        </p:txBody>
      </p:sp>
      <p:sp>
        <p:nvSpPr>
          <p:cNvPr id="3" name="karte"/>
          <p:cNvSpPr/>
          <p:nvPr/>
        </p:nvSpPr>
        <p:spPr>
          <a:xfrm>
            <a:off x="548640" y="244602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4" name="icon-kreis-FaHdd"/>
          <p:cNvSpPr/>
          <p:nvPr/>
        </p:nvSpPr>
        <p:spPr>
          <a:xfrm>
            <a:off x="822960" y="27203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5" name="icon-FaHdd" descr="C:\Users\Thanam\AppData\Local\Temp\claude\c--Projekt-Trainings-azure-basics-training\a9e0bf4e-0d08-4082-a38a-5b8886538508\scratchpad\pptx\assets\icons\FaHd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287395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272034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Wie?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4330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Block, Datei oder Objekt – das technische Modell</a:t>
            </a:r>
            <a:endParaRPr lang="en-US" sz="1600" dirty="0"/>
          </a:p>
        </p:txBody>
      </p:sp>
      <p:sp>
        <p:nvSpPr>
          <p:cNvPr id="8" name="karte"/>
          <p:cNvSpPr/>
          <p:nvPr/>
        </p:nvSpPr>
        <p:spPr>
          <a:xfrm>
            <a:off x="4338218" y="244602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9" name="icon-kreis-FaClock"/>
          <p:cNvSpPr/>
          <p:nvPr/>
        </p:nvSpPr>
        <p:spPr>
          <a:xfrm>
            <a:off x="4612538" y="27203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0" name="icon-FaClock" descr="C:\Users\Thanam\AppData\Local\Temp\claude\c--Projekt-Trainings-azure-basics-training\a9e0bf4e-0d08-4082-a38a-5b8886538508\scratchpad\pptx\assets\icons\Fa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158" y="287395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35498" y="272034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Wie oft?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354330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Hot, Cool, Cold, Archive – die Zugriffsebene</a:t>
            </a:r>
            <a:endParaRPr lang="en-US" sz="1600" dirty="0"/>
          </a:p>
        </p:txBody>
      </p:sp>
      <p:sp>
        <p:nvSpPr>
          <p:cNvPr id="13" name="karte"/>
          <p:cNvSpPr/>
          <p:nvPr/>
        </p:nvSpPr>
        <p:spPr>
          <a:xfrm>
            <a:off x="8127797" y="244602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4" name="icon-kreis-FaRedo"/>
          <p:cNvSpPr/>
          <p:nvPr/>
        </p:nvSpPr>
        <p:spPr>
          <a:xfrm>
            <a:off x="8402117" y="27203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5" name="icon-FaRedo" descr="C:\Users\Thanam\AppData\Local\Temp\claude\c--Projekt-Trainings-azure-basics-training\a9e0bf4e-0d08-4082-a38a-5b8886538508\scratchpad\pptx\assets\icons\FaRed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736" y="287395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225077" y="272034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Überlebt es?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354330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Bleiben die Daten, wenn die VM ersetzt wird?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Technische Speichermodelle</a:t>
            </a:r>
            <a:endParaRPr lang="en-US" sz="3400" dirty="0"/>
          </a:p>
        </p:txBody>
      </p:sp>
      <p:pic>
        <p:nvPicPr>
          <p:cNvPr id="3" name="diagramm" descr="Technische Speichermodel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55687"/>
            <a:ext cx="11094415" cy="423806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68756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F6F6F"/>
                </a:solidFill>
              </a:rPr>
              <a:t>Grafik: TBZ M346, für Azure angepasst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Der Storage Account</a:t>
            </a:r>
            <a:endParaRPr lang="en-US" sz="3400" dirty="0"/>
          </a:p>
        </p:txBody>
      </p:sp>
      <p:pic>
        <p:nvPicPr>
          <p:cNvPr id="3" name="diagramm" descr="Der Storage Accou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28143"/>
            <a:ext cx="11094415" cy="430463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Das musst du wissen</a:t>
            </a:r>
            <a:endParaRPr lang="en-US" sz="3400" dirty="0"/>
          </a:p>
        </p:txBody>
      </p:sp>
      <p:sp>
        <p:nvSpPr>
          <p:cNvPr id="3" name="karte"/>
          <p:cNvSpPr/>
          <p:nvPr/>
        </p:nvSpPr>
        <p:spPr>
          <a:xfrm>
            <a:off x="548640" y="1325880"/>
            <a:ext cx="5410048" cy="2217420"/>
          </a:xfrm>
          <a:prstGeom prst="roundRect">
            <a:avLst>
              <a:gd name="adj" fmla="val 4948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4" name="icon-kreis-FaGlobeEurope"/>
          <p:cNvSpPr/>
          <p:nvPr/>
        </p:nvSpPr>
        <p:spPr>
          <a:xfrm>
            <a:off x="822960" y="160020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5" name="icon-FaGlobeEurope" descr="C:\Users\Thanam\AppData\Local\Temp\claude\c--Projekt-Trainings-azure-basics-training\a9e0bf4e-0d08-4082-a38a-5b8886538508\scratchpad\pptx\assets\icons\FaGlobeEuro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175381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60020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Name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23160"/>
            <a:ext cx="4861408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global eindeutig, 3–24 Zeichen, nur Kleinbuchstaben und Ziffern: sttag3mm</a:t>
            </a:r>
            <a:endParaRPr lang="en-US" sz="1600" dirty="0"/>
          </a:p>
        </p:txBody>
      </p:sp>
      <p:sp>
        <p:nvSpPr>
          <p:cNvPr id="8" name="karte"/>
          <p:cNvSpPr/>
          <p:nvPr/>
        </p:nvSpPr>
        <p:spPr>
          <a:xfrm>
            <a:off x="6233008" y="1325880"/>
            <a:ext cx="5410048" cy="2217420"/>
          </a:xfrm>
          <a:prstGeom prst="roundRect">
            <a:avLst>
              <a:gd name="adj" fmla="val 4948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9" name="icon-kreis-FaFolderOpen"/>
          <p:cNvSpPr/>
          <p:nvPr/>
        </p:nvSpPr>
        <p:spPr>
          <a:xfrm>
            <a:off x="6507328" y="160020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0" name="icon-FaFolderOpen" descr="C:\Users\Thanam\AppData\Local\Temp\claude\c--Projekt-Trainings-azure-basics-training\a9e0bf4e-0d08-4082-a38a-5b8886538508\scratchpad\pptx\assets\icons\FaFolderOp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947" y="175381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30288" y="160020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Container und Blob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6507328" y="2423160"/>
            <a:ext cx="4861408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Container = Ordner, Blob = Datei. $web liefert eine statische Website aus.</a:t>
            </a:r>
            <a:endParaRPr lang="en-US" sz="1600" dirty="0"/>
          </a:p>
        </p:txBody>
      </p:sp>
      <p:sp>
        <p:nvSpPr>
          <p:cNvPr id="13" name="karte"/>
          <p:cNvSpPr/>
          <p:nvPr/>
        </p:nvSpPr>
        <p:spPr>
          <a:xfrm>
            <a:off x="548640" y="3817620"/>
            <a:ext cx="5410048" cy="2217420"/>
          </a:xfrm>
          <a:prstGeom prst="roundRect">
            <a:avLst>
              <a:gd name="adj" fmla="val 4948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4" name="icon-kreis-FaLock"/>
          <p:cNvSpPr/>
          <p:nvPr/>
        </p:nvSpPr>
        <p:spPr>
          <a:xfrm>
            <a:off x="822960" y="40919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5" name="icon-FaLock" descr="C:\Users\Thanam\AppData\Local\Temp\claude\c--Projekt-Trainings-azure-basics-training\a9e0bf4e-0d08-4082-a38a-5b8886538508\scratchpad\pptx\assets\icons\Fa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424555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45920" y="409194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Zugriff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" y="4914900"/>
            <a:ext cx="4861408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standardmässig privat. Zugriffsschlüssel (--auth-mode key) oder SAS-Token.</a:t>
            </a:r>
            <a:endParaRPr lang="en-US" sz="1600" dirty="0"/>
          </a:p>
        </p:txBody>
      </p:sp>
      <p:sp>
        <p:nvSpPr>
          <p:cNvPr id="18" name="karte"/>
          <p:cNvSpPr/>
          <p:nvPr/>
        </p:nvSpPr>
        <p:spPr>
          <a:xfrm>
            <a:off x="6233008" y="3817620"/>
            <a:ext cx="5410048" cy="2217420"/>
          </a:xfrm>
          <a:prstGeom prst="roundRect">
            <a:avLst>
              <a:gd name="adj" fmla="val 4948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9" name="icon-kreis-FaCopy"/>
          <p:cNvSpPr/>
          <p:nvPr/>
        </p:nvSpPr>
        <p:spPr>
          <a:xfrm>
            <a:off x="6507328" y="40919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20" name="icon-FaCopy" descr="C:\Users\Thanam\AppData\Local\Temp\claude\c--Projekt-Trainings-azure-basics-training\a9e0bf4e-0d08-4082-a38a-5b8886538508\scratchpad\pptx\assets\icons\FaCo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0947" y="4245559"/>
            <a:ext cx="332842" cy="33284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30288" y="409194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Für Übungen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6507328" y="4914900"/>
            <a:ext cx="4861408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Standard_LRS, StorageV2 – günstig und reicht.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Redundanz: LRS, ZRS, GRS</a:t>
            </a:r>
            <a:endParaRPr lang="en-US" sz="3400" dirty="0"/>
          </a:p>
        </p:txBody>
      </p:sp>
      <p:pic>
        <p:nvPicPr>
          <p:cNvPr id="3" name="diagramm" descr="Redundanz: LRS, ZRS, G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05504"/>
            <a:ext cx="11094415" cy="374991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Zugriffsebenen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1350624"/>
                <a:gridCol w="1543571"/>
                <a:gridCol w="1640044"/>
                <a:gridCol w="1736517"/>
                <a:gridCol w="2122410"/>
                <a:gridCol w="270124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Ebene</a:t>
                      </a:r>
                      <a:endParaRPr lang="en-US" sz="14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Zugriff</a:t>
                      </a:r>
                      <a:endParaRPr lang="en-US" sz="14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Mindestdauer</a:t>
                      </a:r>
                      <a:endParaRPr lang="en-US" sz="14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Speichern</a:t>
                      </a:r>
                      <a:endParaRPr lang="en-US" sz="14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Lesen</a:t>
                      </a:r>
                      <a:endParaRPr lang="en-US" sz="14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Beispiel</a:t>
                      </a:r>
                      <a:endParaRPr lang="en-US" sz="14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7303A"/>
                          </a:solidFill>
                        </a:rPr>
                        <a:t>Hot</a:t>
                      </a:r>
                      <a:endParaRPr lang="en-US" sz="14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7303A"/>
                          </a:solidFill>
                        </a:rPr>
                        <a:t>häufig</a:t>
                      </a:r>
                      <a:endParaRPr lang="en-US" sz="14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7303A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7303A"/>
                          </a:solidFill>
                        </a:rPr>
                        <a:t>am teuersten</a:t>
                      </a:r>
                      <a:endParaRPr lang="en-US" sz="14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7303A"/>
                          </a:solidFill>
                        </a:rPr>
                        <a:t>am günstigsten</a:t>
                      </a:r>
                      <a:endParaRPr lang="en-US" sz="14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7303A"/>
                          </a:solidFill>
                        </a:rPr>
                        <a:t>Website-Dateien</a:t>
                      </a:r>
                      <a:endParaRPr lang="en-US" sz="14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7303A"/>
                          </a:solidFill>
                        </a:rPr>
                        <a:t>Cool</a:t>
                      </a:r>
                      <a:endParaRPr lang="en-US" sz="14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7303A"/>
                          </a:solidFill>
                        </a:rPr>
                        <a:t>selten</a:t>
                      </a:r>
                      <a:endParaRPr lang="en-US" sz="14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7303A"/>
                          </a:solidFill>
                        </a:rPr>
                        <a:t>30 Tage</a:t>
                      </a:r>
                      <a:endParaRPr lang="en-US" sz="14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7303A"/>
                          </a:solidFill>
                        </a:rPr>
                        <a:t>günstiger</a:t>
                      </a:r>
                      <a:endParaRPr lang="en-US" sz="14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7303A"/>
                          </a:solidFill>
                        </a:rPr>
                        <a:t>teurer</a:t>
                      </a:r>
                      <a:endParaRPr lang="en-US" sz="14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7303A"/>
                          </a:solidFill>
                        </a:rPr>
                        <a:t>Backups der letzten Wochen</a:t>
                      </a:r>
                      <a:endParaRPr lang="en-US" sz="14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7303A"/>
                          </a:solidFill>
                        </a:rPr>
                        <a:t>Cold</a:t>
                      </a:r>
                      <a:endParaRPr lang="en-US" sz="14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7303A"/>
                          </a:solidFill>
                        </a:rPr>
                        <a:t>sehr selten</a:t>
                      </a:r>
                      <a:endParaRPr lang="en-US" sz="14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7303A"/>
                          </a:solidFill>
                        </a:rPr>
                        <a:t>90 Tage</a:t>
                      </a:r>
                      <a:endParaRPr lang="en-US" sz="14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7303A"/>
                          </a:solidFill>
                        </a:rPr>
                        <a:t>noch günstiger</a:t>
                      </a:r>
                      <a:endParaRPr lang="en-US" sz="14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7303A"/>
                          </a:solidFill>
                        </a:rPr>
                        <a:t>noch teurer</a:t>
                      </a:r>
                      <a:endParaRPr lang="en-US" sz="14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7303A"/>
                          </a:solidFill>
                        </a:rPr>
                        <a:t>ältere Backups</a:t>
                      </a:r>
                      <a:endParaRPr lang="en-US" sz="14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7303A"/>
                          </a:solidFill>
                        </a:rPr>
                        <a:t>Archive</a:t>
                      </a:r>
                      <a:endParaRPr lang="en-US" sz="14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7303A"/>
                          </a:solidFill>
                        </a:rPr>
                        <a:t>fast nie</a:t>
                      </a:r>
                      <a:endParaRPr lang="en-US" sz="14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7303A"/>
                          </a:solidFill>
                        </a:rPr>
                        <a:t>180 Tage</a:t>
                      </a:r>
                      <a:endParaRPr lang="en-US" sz="14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7303A"/>
                          </a:solidFill>
                        </a:rPr>
                        <a:t>am günstigsten</a:t>
                      </a:r>
                      <a:endParaRPr lang="en-US" sz="14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7303A"/>
                          </a:solidFill>
                        </a:rPr>
                        <a:t>teuer, Stunden Wartezeit</a:t>
                      </a:r>
                      <a:endParaRPr lang="en-US" sz="14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7303A"/>
                          </a:solidFill>
                        </a:rPr>
                        <a:t>gesetzliche Aufbewahrung</a:t>
                      </a:r>
                      <a:endParaRPr lang="en-US" sz="14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FAD"/>
                </a:solidFill>
              </a:rPr>
              <a:t>Je heisser, desto teurer pro GB. Je kälter, desto teurer pro Zugriff.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Persistenz: Was überlebt?</a:t>
            </a:r>
            <a:endParaRPr lang="en-US" sz="3400" dirty="0"/>
          </a:p>
        </p:txBody>
      </p:sp>
      <p:pic>
        <p:nvPicPr>
          <p:cNvPr id="3" name="diagramm" descr="Persistenz: Was überlebt?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217" y="1325880"/>
            <a:ext cx="10431262" cy="4297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68756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F6F6F"/>
                </a:solidFill>
              </a:rPr>
              <a:t>Grafik: TBZ M346, für Azure angepasst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Selbsttest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F6F"/>
                </a:solidFill>
              </a:rPr>
              <a:t>Erst selbst überlegen, dann mit dem Nachbarn vergleichen.</a:t>
            </a:r>
            <a:endParaRPr lang="en-US" sz="1600" dirty="0"/>
          </a:p>
        </p:txBody>
      </p:sp>
      <p:sp>
        <p:nvSpPr>
          <p:cNvPr id="4" name="karte"/>
          <p:cNvSpPr/>
          <p:nvPr/>
        </p:nvSpPr>
        <p:spPr>
          <a:xfrm>
            <a:off x="548640" y="274320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5" name="icon-kreis-FaQuestionCircle"/>
          <p:cNvSpPr/>
          <p:nvPr/>
        </p:nvSpPr>
        <p:spPr>
          <a:xfrm>
            <a:off x="822960" y="301752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6" name="icon-FaQuestionCircle" descr="C:\Users\Thanam\AppData\Local\Temp\claude\c--Projekt-Trainings-azure-basics-training\a9e0bf4e-0d08-4082-a38a-5b8886538508\scratchpad\pptx\assets\icons\FaQuestion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31711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301752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Bilder weg?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84048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Eine Web-App speichert Bilder auf dem OS-Datenträger. Die VM wird neu erstellt. Was passiert?</a:t>
            </a:r>
            <a:endParaRPr lang="en-US" sz="1600" dirty="0"/>
          </a:p>
        </p:txBody>
      </p:sp>
      <p:sp>
        <p:nvSpPr>
          <p:cNvPr id="9" name="karte"/>
          <p:cNvSpPr/>
          <p:nvPr/>
        </p:nvSpPr>
        <p:spPr>
          <a:xfrm>
            <a:off x="4338218" y="274320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0" name="icon-kreis-FaQuestionCircle"/>
          <p:cNvSpPr/>
          <p:nvPr/>
        </p:nvSpPr>
        <p:spPr>
          <a:xfrm>
            <a:off x="4612538" y="301752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1" name="icon-FaQuestionCircle" descr="C:\Users\Thanam\AppData\Local\Temp\claude\c--Projekt-Trainings-azure-basics-training\a9e0bf4e-0d08-4082-a38a-5b8886538508\scratchpad\pptx\assets\icons\FaQuestion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158" y="317113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35498" y="301752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Name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612538" y="384048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Warum ist St-Tag3-MM kein gültiger Storage-Account-Name?</a:t>
            </a:r>
            <a:endParaRPr lang="en-US" sz="1600" dirty="0"/>
          </a:p>
        </p:txBody>
      </p:sp>
      <p:sp>
        <p:nvSpPr>
          <p:cNvPr id="14" name="karte"/>
          <p:cNvSpPr/>
          <p:nvPr/>
        </p:nvSpPr>
        <p:spPr>
          <a:xfrm>
            <a:off x="8127797" y="274320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5" name="icon-kreis-FaQuestionCircle"/>
          <p:cNvSpPr/>
          <p:nvPr/>
        </p:nvSpPr>
        <p:spPr>
          <a:xfrm>
            <a:off x="8402117" y="301752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6" name="icon-FaQuestionCircle" descr="C:\Users\Thanam\AppData\Local\Temp\claude\c--Projekt-Trainings-azure-basics-training\a9e0bf4e-0d08-4082-a38a-5b8886538508\scratchpad\pptx\assets\icons\FaQuestion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736" y="317113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225077" y="301752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Archiv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8402117" y="384048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Jahresabschlüsse 10 Jahre aufbewahren, fast nie lesen – welche Ebene?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Zum Nachlesen</a:t>
            </a:r>
            <a:endParaRPr lang="en-US" sz="3400" dirty="0"/>
          </a:p>
        </p:txBody>
      </p:sp>
      <p:sp>
        <p:nvSpPr>
          <p:cNvPr id="3" name="icon-kreis-FaBook"/>
          <p:cNvSpPr/>
          <p:nvPr/>
        </p:nvSpPr>
        <p:spPr>
          <a:xfrm>
            <a:off x="548640" y="2446020"/>
            <a:ext cx="548640" cy="54864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4" name="icon-FaBook" descr="C:\Users\Thanam\AppData\Local\Temp\claude\c--Projekt-Trainings-azure-basics-training\a9e0bf4e-0d08-4082-a38a-5b8886538508\scratchpad\pptx\assets\icons\Fa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4" y="2577694"/>
            <a:ext cx="285293" cy="28529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2240280"/>
            <a:ext cx="103171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303A"/>
                </a:solidFill>
              </a:rPr>
              <a:t>Theorie im Repository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F6F6F"/>
                </a:solidFill>
              </a:rPr>
              <a:t>theorie/05-azure-storage.md</a:t>
            </a:r>
            <a:endParaRPr lang="en-US" sz="1800" dirty="0"/>
          </a:p>
        </p:txBody>
      </p:sp>
      <p:sp>
        <p:nvSpPr>
          <p:cNvPr id="6" name="icon-kreis-FaGraduationCap"/>
          <p:cNvSpPr/>
          <p:nvPr/>
        </p:nvSpPr>
        <p:spPr>
          <a:xfrm>
            <a:off x="548640" y="3406140"/>
            <a:ext cx="548640" cy="54864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7" name="icon-FaGraduationCap" descr="C:\Users\Thanam\AppData\Local\Temp\claude\c--Projekt-Trainings-azure-basics-training\a9e0bf4e-0d08-4082-a38a-5b8886538508\scratchpad\pptx\assets\icons\FaGraduationC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4" y="3537814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3200400"/>
            <a:ext cx="103171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303A"/>
                </a:solidFill>
              </a:rPr>
              <a:t>Microsoft Learn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F6F6F"/>
                </a:solidFill>
              </a:rPr>
              <a:t>Übersicht über Speicherkonten · Storage-Redundanz · Zugriffsebenen</a:t>
            </a:r>
            <a:endParaRPr lang="en-US" sz="1800" dirty="0"/>
          </a:p>
        </p:txBody>
      </p:sp>
      <p:sp>
        <p:nvSpPr>
          <p:cNvPr id="9" name="icon-kreis-FaBook"/>
          <p:cNvSpPr/>
          <p:nvPr/>
        </p:nvSpPr>
        <p:spPr>
          <a:xfrm>
            <a:off x="548640" y="4366260"/>
            <a:ext cx="548640" cy="54864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0" name="icon-FaBook" descr="C:\Users\Thanam\AppData\Local\Temp\claude\c--Projekt-Trainings-azure-basics-training\a9e0bf4e-0d08-4082-a38a-5b8886538508\scratchpad\pptx\assets\icons\Fa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14" y="4497934"/>
            <a:ext cx="285293" cy="285293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4160520"/>
            <a:ext cx="103171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303A"/>
                </a:solidFill>
              </a:rPr>
              <a:t>TBZ M346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F6F6F"/>
                </a:solidFill>
              </a:rPr>
              <a:t>Speichermodelle (Texte und Grafiken übernommen, für Azure angepasst)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1554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Jetzt du</a:t>
            </a:r>
            <a:endParaRPr lang="en-US" sz="4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2560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EE2FB"/>
                </a:solidFill>
              </a:rPr>
              <a:t>Auftrag 3.4: Storage Account und Blob-Container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T Cloud Solutions">
  <a:themeElements>
    <a:clrScheme name="PAT Cloud Solutions">
      <a:dk1>
        <a:srgbClr val="27303A"/>
      </a:dk1>
      <a:lt1>
        <a:srgbClr val="FFFFFF"/>
      </a:lt1>
      <a:dk2>
        <a:srgbClr val="0E0E0E"/>
      </a:dk2>
      <a:lt2>
        <a:srgbClr val="F7F7F7"/>
      </a:lt2>
      <a:accent1>
        <a:srgbClr val="006FAD"/>
      </a:accent1>
      <a:accent2>
        <a:srgbClr val="DEE2FB"/>
      </a:accent2>
      <a:accent3>
        <a:srgbClr val="6F6F6F"/>
      </a:accent3>
      <a:accent4>
        <a:srgbClr val="2E7D32"/>
      </a:accent4>
      <a:accent5>
        <a:srgbClr val="B3261E"/>
      </a:accent5>
      <a:accent6>
        <a:srgbClr val="D5D8F4"/>
      </a:accent6>
      <a:hlink>
        <a:srgbClr val="006FAD"/>
      </a:hlink>
      <a:folHlink>
        <a:srgbClr val="27303A"/>
      </a:folHlink>
    </a:clrScheme>
    <a:fontScheme name="PAT Cloud Solution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PAT Cloud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Input: Azure Storage</dc:title>
  <dc:subject>PptxGenJS Presentation</dc:subject>
  <dc:creator>PAT Cloud Solutions</dc:creator>
  <cp:lastModifiedBy>PAT Cloud Solutions</cp:lastModifiedBy>
  <cp:revision>1</cp:revision>
  <dcterms:created xsi:type="dcterms:W3CDTF">2026-10-19T15:49:09Z</dcterms:created>
  <dcterms:modified xsi:type="dcterms:W3CDTF">2026-10-19T15:49:09Z</dcterms:modified>
</cp:coreProperties>
</file>