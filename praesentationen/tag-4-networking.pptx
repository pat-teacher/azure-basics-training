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ebb26e3f-4b7f-c9f7-efef-e3ff814b2d56}">
          <p14:sldIdLst>
            <p14:sldId id="256"/>
            <p14:sldId id="257"/>
          </p14:sldIdLst>
        </p14:section>
        <p14:section name="Heute" id="{4750a802-daa9-b382-0015-cc8dd7667c14}">
          <p14:sldIdLst>
            <p14:sldId id="258"/>
            <p14:sldId id="259"/>
            <p14:sldId id="260"/>
          </p14:sldIdLst>
        </p14:section>
        <p14:section name="Abschluss" id="{5f60bc8a-a5c2-54e3-a72c-1169f910f1d0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Ja, Compute läuft weiter (nicht deallocated). Seinen öffentlichen. Nur Kleinbuchstaben und Ziffern erlaubt.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Antwort Exit-Ticket: Nein, Regel 100 wird zuerst geprüft.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27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logo-h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468880" cy="640080"/>
          </a:xfrm>
          <a:prstGeom prst="rect">
            <a:avLst/>
          </a:prstGeom>
        </p:spPr>
      </p:pic>
      <p:pic>
        <p:nvPicPr>
          <p:cNvPr id="3" name="Image 1" descr="C:\Users\Thanam\AppData\Local\Temp\claude\c--Projekt-Trainings-azure-basics-training\a9e0bf4e-0d08-4082-a38a-5b8886538508\scratchpad\pptx\assets\wol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2011680"/>
            <a:ext cx="3200400" cy="19476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103120"/>
            <a:ext cx="75895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794760"/>
            <a:ext cx="75895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EE2FB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6" name="Text 0"/>
          <p:cNvSpPr/>
          <p:nvPr/>
        </p:nvSpPr>
        <p:spPr>
          <a:xfrm>
            <a:off x="54864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EE2FB"/>
                </a:solidFill>
              </a:rPr>
              <a:t>Kanton Zürich · ICT-Grundbildung · PAT Cloud Solutions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EL">
    <p:bg>
      <p:bgPr>
        <a:solidFill>
          <a:srgbClr val="006F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wol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2194560"/>
            <a:ext cx="2743200" cy="1664208"/>
          </a:xfrm>
          <a:prstGeom prst="rect">
            <a:avLst/>
          </a:prstGeom>
        </p:spPr>
      </p:pic>
      <p:pic>
        <p:nvPicPr>
          <p:cNvPr id="3" name="Image 1" descr="C:\Users\Thanam\AppData\Local\Temp\claude\c--Projekt-Trainings-azure-basics-training\a9e0bf4e-0d08-4082-a38a-5b8886538508\scratchpad\pptx\assets\logo-h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63640"/>
            <a:ext cx="1371600" cy="356616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19456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70332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EE2FB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logo-dunk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1060704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0" y="63367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F"/>
                </a:solidFill>
              </a:rPr>
              <a:t>Einführung in Cloud Computing mit Microsoft Azure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27303A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E">
    <p:bg>
      <p:bgPr>
        <a:solidFill>
          <a:srgbClr val="27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logo-h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468880" cy="6400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603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EE2FB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210312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Tag 4: Azure Networking</a:t>
            </a:r>
            <a:endParaRPr lang="en-US" sz="44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379476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EE2FB"/>
                </a:solidFill>
              </a:rPr>
              <a:t>Einführung in Cloud Computing mit Microsoft Azure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Rückblick Tag 3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</a:rPr>
              <a:t>Beantworte die Fragen mit deinem Partner – 5 Minuten.</a:t>
            </a:r>
            <a:endParaRPr lang="en-US" sz="1600" dirty="0"/>
          </a:p>
        </p:txBody>
      </p:sp>
      <p:sp>
        <p:nvSpPr>
          <p:cNvPr id="4" name="karte"/>
          <p:cNvSpPr/>
          <p:nvPr/>
        </p:nvSpPr>
        <p:spPr>
          <a:xfrm>
            <a:off x="548640" y="274320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5" name="icon-kreis-FaQuestionCircle"/>
          <p:cNvSpPr/>
          <p:nvPr/>
        </p:nvSpPr>
        <p:spPr>
          <a:xfrm>
            <a:off x="822960" y="301752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6" name="icon-FaQuestionCircle" descr="C:\Users\Thanam\AppData\Local\Temp\claude\c--Projekt-Trainings-azure-basics-training\a9e0bf4e-0d08-4082-a38a-5b8886538508\scratchpad\pptx\assets\icons\FaQuestion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3171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301752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Kosten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Du fährst die VM mit sudo poweroff herunter. Kostet sie noch etwas?</a:t>
            </a:r>
            <a:endParaRPr lang="en-US" sz="1600" dirty="0"/>
          </a:p>
        </p:txBody>
      </p:sp>
      <p:sp>
        <p:nvSpPr>
          <p:cNvPr id="9" name="karte"/>
          <p:cNvSpPr/>
          <p:nvPr/>
        </p:nvSpPr>
        <p:spPr>
          <a:xfrm>
            <a:off x="4338218" y="274320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icon-kreis-FaQuestionCircle"/>
          <p:cNvSpPr/>
          <p:nvPr/>
        </p:nvSpPr>
        <p:spPr>
          <a:xfrm>
            <a:off x="4612538" y="301752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1" name="icon-FaQuestionCircle" descr="C:\Users\Thanam\AppData\Local\Temp\claude\c--Projekt-Trainings-azure-basics-training\a9e0bf4e-0d08-4082-a38a-5b8886538508\scratchpad\pptx\assets\icons\FaQuestion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158" y="31711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35498" y="301752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SSH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Welchen Schlüssel brauchst du von einem Kollegen, damit er auf deine VM darf?</a:t>
            </a:r>
            <a:endParaRPr lang="en-US" sz="1600" dirty="0"/>
          </a:p>
        </p:txBody>
      </p:sp>
      <p:sp>
        <p:nvSpPr>
          <p:cNvPr id="14" name="karte"/>
          <p:cNvSpPr/>
          <p:nvPr/>
        </p:nvSpPr>
        <p:spPr>
          <a:xfrm>
            <a:off x="8127797" y="274320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5" name="icon-kreis-FaQuestionCircle"/>
          <p:cNvSpPr/>
          <p:nvPr/>
        </p:nvSpPr>
        <p:spPr>
          <a:xfrm>
            <a:off x="8402117" y="301752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6" name="icon-FaQuestionCircle" descr="C:\Users\Thanam\AppData\Local\Temp\claude\c--Projekt-Trainings-azure-basics-training\a9e0bf4e-0d08-4082-a38a-5b8886538508\scratchpad\pptx\assets\icons\FaQuestion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736" y="31711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225077" y="301752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Storage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Warum ist St-Tag3-MM kein gültiger Storage-Account-Name?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Deine Ziele heute</a:t>
            </a:r>
            <a:endParaRPr lang="en-US" sz="3400" dirty="0"/>
          </a:p>
        </p:txBody>
      </p:sp>
      <p:sp>
        <p:nvSpPr>
          <p:cNvPr id="3" name="karte"/>
          <p:cNvSpPr/>
          <p:nvPr/>
        </p:nvSpPr>
        <p:spPr>
          <a:xfrm>
            <a:off x="548640" y="1325880"/>
            <a:ext cx="541004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icon-kreis-FaSitemap"/>
          <p:cNvSpPr/>
          <p:nvPr/>
        </p:nvSpPr>
        <p:spPr>
          <a:xfrm>
            <a:off x="822960" y="160020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5" name="icon-FaSitemap" descr="C:\Users\Thanam\AppData\Local\Temp\claude\c--Projekt-Trainings-azure-basics-training\a9e0bf4e-0d08-4082-a38a-5b8886538508\scratchpad\pptx\assets\icons\Fa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75381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0020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Subnetting (K3)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486140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Du teilst einen Adressraum in Subnetze auf.</a:t>
            </a:r>
            <a:endParaRPr lang="en-US" sz="1600" dirty="0"/>
          </a:p>
        </p:txBody>
      </p:sp>
      <p:sp>
        <p:nvSpPr>
          <p:cNvPr id="8" name="karte"/>
          <p:cNvSpPr/>
          <p:nvPr/>
        </p:nvSpPr>
        <p:spPr>
          <a:xfrm>
            <a:off x="6233008" y="1325880"/>
            <a:ext cx="541004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9" name="icon-kreis-FaNetworkWired"/>
          <p:cNvSpPr/>
          <p:nvPr/>
        </p:nvSpPr>
        <p:spPr>
          <a:xfrm>
            <a:off x="6507328" y="160020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0" name="icon-FaNetworkWired" descr="C:\Users\Thanam\AppData\Local\Temp\claude\c--Projekt-Trainings-azure-basics-training\a9e0bf4e-0d08-4082-a38a-5b8886538508\scratchpad\pptx\assets\icons\FaNetworkWi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947" y="175381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30288" y="160020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VNet (K3)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507328" y="2423160"/>
            <a:ext cx="486140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Du stellst ein VNet mit mehreren Subnetzen bereit.</a:t>
            </a:r>
            <a:endParaRPr lang="en-US" sz="1600" dirty="0"/>
          </a:p>
        </p:txBody>
      </p:sp>
      <p:sp>
        <p:nvSpPr>
          <p:cNvPr id="13" name="karte"/>
          <p:cNvSpPr/>
          <p:nvPr/>
        </p:nvSpPr>
        <p:spPr>
          <a:xfrm>
            <a:off x="548640" y="3817620"/>
            <a:ext cx="541004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4" name="icon-kreis-FaShieldAlt"/>
          <p:cNvSpPr/>
          <p:nvPr/>
        </p:nvSpPr>
        <p:spPr>
          <a:xfrm>
            <a:off x="822960" y="40919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5" name="icon-FaShieldAlt" descr="C:\Users\Thanam\AppData\Local\Temp\claude\c--Projekt-Trainings-azure-basics-training\a9e0bf4e-0d08-4082-a38a-5b8886538508\scratchpad\pptx\assets\icons\FaShieldA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424555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409194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NSG (K3)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4914900"/>
            <a:ext cx="486140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Du filterst Verkehr nach Port und IP-Adresse.</a:t>
            </a:r>
            <a:endParaRPr lang="en-US" sz="1600" dirty="0"/>
          </a:p>
        </p:txBody>
      </p:sp>
      <p:sp>
        <p:nvSpPr>
          <p:cNvPr id="18" name="karte"/>
          <p:cNvSpPr/>
          <p:nvPr/>
        </p:nvSpPr>
        <p:spPr>
          <a:xfrm>
            <a:off x="6233008" y="3817620"/>
            <a:ext cx="541004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9" name="icon-kreis-FaSearch"/>
          <p:cNvSpPr/>
          <p:nvPr/>
        </p:nvSpPr>
        <p:spPr>
          <a:xfrm>
            <a:off x="6507328" y="40919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20" name="icon-FaSearch" descr="C:\Users\Thanam\AppData\Local\Temp\claude\c--Projekt-Trainings-azure-basics-training\a9e0bf4e-0d08-4082-a38a-5b8886538508\scratchpad\pptx\assets\icons\Fa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947" y="424555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30288" y="409194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Fehlersuche (K4)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6507328" y="4914900"/>
            <a:ext cx="486140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Du begründest, warum eine Verbindung klappt oder blockiert wird.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Ablauf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1210300"/>
                <a:gridCol w="2218883"/>
                <a:gridCol w="7665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Lektion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Inhalt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L1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Einstieg, Input 1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Rückblick · VNet und Subnetting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L2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Hands-on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Auftrag 4.1: Subnetting-Training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L3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Hands-on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Auftrag 4.2: VNet mit zwei Subnetzen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L4–L5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Input 2, Hands-on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Network Security Groups · Auftrag 4.3: Zwei VMs im VNet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L6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Hands-on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Auftrag 4.4: NSG-Regeln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L7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Hands-on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Auftrag 4.5: Fehlersuche · ⭐ 4.6 Network Watcher · ⭐ 4.7 Challenge Lab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L8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Abschluss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Netzplan zeichnen · Aufräumen · Exit-Ticket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Deine Aufträge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1167833"/>
                <a:gridCol w="7785555"/>
                <a:gridCol w="214102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Nr.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Auftrag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Form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4.1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Subnetting-Training für die «Velo Zürich AG»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Partner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4.2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VNet mit zwei Subnetzen (snet-web, snet-intern)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Einzel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4.3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Zwei VMs im VNet, Ping und SSH zwischen den Subnetzen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Partner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4.4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NSG-Regeln: HTTP für alle, SSH nur von der Schul-IP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Partner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4.5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Fehlersuche: «Warum komme ich nicht auf meine VM?»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Partner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⭐ 4.6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IP-Flussüberprüfung und effektive Sicherheitsregeln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Einzel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⭐ 4.7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Challenge Lab zu bedingtem Zugriff (Learn on Demand)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Partner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Abschluss</a:t>
            </a:r>
            <a:endParaRPr lang="en-US" sz="3400" dirty="0"/>
          </a:p>
        </p:txBody>
      </p:sp>
      <p:sp>
        <p:nvSpPr>
          <p:cNvPr id="3" name="karte"/>
          <p:cNvSpPr/>
          <p:nvPr/>
        </p:nvSpPr>
        <p:spPr>
          <a:xfrm>
            <a:off x="548640" y="2446020"/>
            <a:ext cx="541004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icon-kreis-FaMapMarkedAlt"/>
          <p:cNvSpPr/>
          <p:nvPr/>
        </p:nvSpPr>
        <p:spPr>
          <a:xfrm>
            <a:off x="822960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5" name="icon-FaMapMarkedAlt" descr="C:\Users\Thanam\AppData\Local\Temp\claude\c--Projekt-Trainings-azure-basics-training\a9e0bf4e-0d08-4082-a38a-5b8886538508\scratchpad\pptx\assets\icons\FaMapMarkedA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8739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72034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Netzplan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43300"/>
            <a:ext cx="48614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Zeichne deine Umgebung: VNet, Subnetze, NSG-Regeln, VMs mit IP-Adressen.</a:t>
            </a:r>
            <a:endParaRPr lang="en-US" sz="1600" dirty="0"/>
          </a:p>
        </p:txBody>
      </p:sp>
      <p:sp>
        <p:nvSpPr>
          <p:cNvPr id="8" name="karte"/>
          <p:cNvSpPr/>
          <p:nvPr/>
        </p:nvSpPr>
        <p:spPr>
          <a:xfrm>
            <a:off x="6233008" y="2446020"/>
            <a:ext cx="541004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9" name="icon-kreis-FaDoorOpen"/>
          <p:cNvSpPr/>
          <p:nvPr/>
        </p:nvSpPr>
        <p:spPr>
          <a:xfrm>
            <a:off x="6507328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0" name="icon-FaDoorOpen" descr="C:\Users\Thanam\AppData\Local\Temp\claude\c--Projekt-Trainings-azure-basics-training\a9e0bf4e-0d08-4082-a38a-5b8886538508\scratchpad\pptx\assets\icons\FaDoorOp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947" y="287395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30288" y="272034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Exit-Ticket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507328" y="3543300"/>
            <a:ext cx="48614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Eine NSG hat Regel 100 Deny und Regel 200 Allow für Port 80. Ist die Website erreichbar?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Morgen: alles als Code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2560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EE2FB"/>
                </a:solidFill>
              </a:rPr>
              <a:t>Tag 5 · Automatisierung mit Bicep und cloud-init</a:t>
            </a:r>
            <a:endParaRPr lang="en-US" sz="2000" dirty="0"/>
          </a:p>
        </p:txBody>
      </p:sp>
      <p:sp>
        <p:nvSpPr>
          <p:cNvPr id="4" name="karte-dunkel"/>
          <p:cNvSpPr/>
          <p:nvPr/>
        </p:nvSpPr>
        <p:spPr>
          <a:xfrm>
            <a:off x="548640" y="3611880"/>
            <a:ext cx="5410048" cy="2103120"/>
          </a:xfrm>
          <a:prstGeom prst="roundRect">
            <a:avLst>
              <a:gd name="adj" fmla="val 5217"/>
            </a:avLst>
          </a:prstGeom>
          <a:solidFill>
            <a:srgbClr val="323C48"/>
          </a:solidFill>
          <a:ln w="12700">
            <a:solidFill>
              <a:srgbClr val="323C48"/>
            </a:solidFill>
            <a:prstDash val="solid"/>
          </a:ln>
        </p:spPr>
      </p:sp>
      <p:sp>
        <p:nvSpPr>
          <p:cNvPr id="5" name="icon-kreis-FaFileCode"/>
          <p:cNvSpPr/>
          <p:nvPr/>
        </p:nvSpPr>
        <p:spPr>
          <a:xfrm>
            <a:off x="822960" y="388620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6" name="icon-FaFileCode" descr="C:\Users\Thanam\AppData\Local\Temp\claude\c--Projekt-Trainings-azure-basics-training\a9e0bf4e-0d08-4082-a38a-5b8886538508\scratchpad\pptx\assets\icons\FaFile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40398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388620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Bicep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709160"/>
            <a:ext cx="486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EE2FB"/>
                </a:solidFill>
              </a:rPr>
              <a:t>Die Umgebung von heute in einer Datei</a:t>
            </a:r>
            <a:endParaRPr lang="en-US" sz="1600" dirty="0"/>
          </a:p>
        </p:txBody>
      </p:sp>
      <p:sp>
        <p:nvSpPr>
          <p:cNvPr id="9" name="karte-dunkel"/>
          <p:cNvSpPr/>
          <p:nvPr/>
        </p:nvSpPr>
        <p:spPr>
          <a:xfrm>
            <a:off x="6233008" y="3611880"/>
            <a:ext cx="5410048" cy="2103120"/>
          </a:xfrm>
          <a:prstGeom prst="roundRect">
            <a:avLst>
              <a:gd name="adj" fmla="val 5217"/>
            </a:avLst>
          </a:prstGeom>
          <a:solidFill>
            <a:srgbClr val="323C48"/>
          </a:solidFill>
          <a:ln w="12700">
            <a:solidFill>
              <a:srgbClr val="323C48"/>
            </a:solidFill>
            <a:prstDash val="solid"/>
          </a:ln>
        </p:spPr>
      </p:sp>
      <p:sp>
        <p:nvSpPr>
          <p:cNvPr id="10" name="icon-kreis-FaRocket"/>
          <p:cNvSpPr/>
          <p:nvPr/>
        </p:nvSpPr>
        <p:spPr>
          <a:xfrm>
            <a:off x="6507328" y="388620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1" name="icon-FaRocket" descr="C:\Users\Thanam\AppData\Local\Temp\claude\c--Projekt-Trainings-azure-basics-training\a9e0bf4e-0d08-4082-a38a-5b8886538508\scratchpad\pptx\assets\icons\FaRo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947" y="403981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30288" y="388620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Abschlussprojekt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507328" y="4709160"/>
            <a:ext cx="486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EE2FB"/>
                </a:solidFill>
              </a:rPr>
              <a:t>Webserver der «Velo Zürich AG»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T Cloud Solutions">
  <a:themeElements>
    <a:clrScheme name="PAT Cloud Solutions">
      <a:dk1>
        <a:srgbClr val="27303A"/>
      </a:dk1>
      <a:lt1>
        <a:srgbClr val="FFFFFF"/>
      </a:lt1>
      <a:dk2>
        <a:srgbClr val="0E0E0E"/>
      </a:dk2>
      <a:lt2>
        <a:srgbClr val="F7F7F7"/>
      </a:lt2>
      <a:accent1>
        <a:srgbClr val="006FAD"/>
      </a:accent1>
      <a:accent2>
        <a:srgbClr val="DEE2FB"/>
      </a:accent2>
      <a:accent3>
        <a:srgbClr val="6F6F6F"/>
      </a:accent3>
      <a:accent4>
        <a:srgbClr val="2E7D32"/>
      </a:accent4>
      <a:accent5>
        <a:srgbClr val="B3261E"/>
      </a:accent5>
      <a:accent6>
        <a:srgbClr val="D5D8F4"/>
      </a:accent6>
      <a:hlink>
        <a:srgbClr val="006FAD"/>
      </a:hlink>
      <a:folHlink>
        <a:srgbClr val="27303A"/>
      </a:folHlink>
    </a:clrScheme>
    <a:fontScheme name="PAT Cloud Solution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PAT Cloud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Tag 4: Azure Networking</dc:title>
  <dc:subject>PptxGenJS Presentation</dc:subject>
  <dc:creator>PAT Cloud Solutions</dc:creator>
  <cp:lastModifiedBy>PAT Cloud Solutions</cp:lastModifiedBy>
  <cp:revision>1</cp:revision>
  <dcterms:created xsi:type="dcterms:W3CDTF">2026-10-19T14:39:59Z</dcterms:created>
  <dcterms:modified xsi:type="dcterms:W3CDTF">2026-10-19T14:39:59Z</dcterms:modified>
</cp:coreProperties>
</file>