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VNet" id="{ccb7bb60-7016-e9b7-56f3-6569856d5242}">
          <p14:sldIdLst>
            <p14:sldId id="256"/>
            <p14:sldId id="257"/>
            <p14:sldId id="258"/>
            <p14:sldId id="259"/>
            <p14:sldId id="260"/>
          </p14:sldIdLst>
        </p14:section>
        <p14:section name="NSG" id="{a486cb93-ff9a-ea2a-9f76-2c1494673294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theorie/06-azure-networking.md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Seit 2026 sind neue Subnetze standardmässig privat (kein Default Outbound Access). Vor dem Kurs im Student-Abo testen.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Live-Demo: NSG erstellen, Regel für Port 80 hinzufügen, an Subnetz hängen, im Browser testen.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Fehlersuche der Reihe nach: IP, NSG Subnetz, NSG NIC, OS-Firewall, Dienst. Im Portal: effektive Sicherheitsregeln.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16 − 5 = 11. Nein, Regel 100 zuerst. Ja, stateful.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7303A"/>
                </a:solidFill>
              </a:rPr>
              <a:t>Azure Networking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Input 1 und 2 · Tag 4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Virtuelles Netzwerk, Adressraum, Subnetz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Building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Building" descr="C:\Users\Thanam\AppData\Local\Temp\claude\c--Projekt-Trainings-azure-basics-training\a7a6b8eb-22f3-4b42-aecc-5af05d1502b1\scratchpad\folien\assets\icons\FaBui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Virtuelles Netzwerk (VNet)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(Virtual Network) Dein eigenes, isoliertes Netz in Azure – ein Firmengelände mit Zaun. Liegt in einer Region.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MapMarkedAlt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MapMarkedAlt" descr="C:\Users\Thanam\AppData\Local\Temp\claude\c--Projekt-Trainings-azure-basics-training\a7a6b8eb-22f3-4b42-aecc-5af05d1502b1\scratchpad\folien\assets\icons\FaMapMarke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Adressraum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(Address Space) IP-Bereich des VNets, z. B. 10.10.0.0/16. Nur private Bereiche verwenden.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Sitemap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Sitemap" descr="C:\Users\Thanam\AppData\Local\Temp\claude\c--Projekt-Trainings-azure-basics-training\a7a6b8eb-22f3-4b42-aecc-5af05d1502b1\scratchpad\folien\assets\icons\FaSite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Subnetz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(Subnet) Teil des VNets, z. B. 10.10.1.0/24 – ein Gebäude auf dem Gelände. Jede NIC hängt in genau einem.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CIDR in Kürze</a:t>
            </a:r>
            <a:endParaRPr lang="en-US" sz="3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512875"/>
                <a:gridCol w="2017166"/>
                <a:gridCol w="2521458"/>
                <a:gridCol w="504291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CIDR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Adressen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 Azure nutzbar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Beispiel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/16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65 536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– (Adressraum)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10.10.0.0 – 10.10.255.255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/24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256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251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10.10.1.0 – 10.10.1.255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/27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27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10.10.3.0 – 10.10.3.31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/29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8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kleinstes erlaubtes Subnetz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Je grösser die Zahl nach dem /, desto kleiner das Netz.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Azure reserviert 5 Adressen pro Subnetz</a:t>
            </a:r>
            <a:endParaRPr lang="en-US" sz="3400" dirty="0"/>
          </a:p>
        </p:txBody>
      </p:sp>
      <p:sp>
        <p:nvSpPr>
          <p:cNvPr id="3" name="kennzahl"/>
          <p:cNvSpPr/>
          <p:nvPr/>
        </p:nvSpPr>
        <p:spPr>
          <a:xfrm>
            <a:off x="548640" y="1325880"/>
            <a:ext cx="1999427" cy="2194560"/>
          </a:xfrm>
          <a:prstGeom prst="roundRect">
            <a:avLst>
              <a:gd name="adj" fmla="val 548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08760"/>
            <a:ext cx="19994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6FAD"/>
                </a:solidFill>
              </a:rPr>
              <a:t>.0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697480"/>
            <a:ext cx="163366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03A"/>
                </a:solidFill>
              </a:rPr>
              <a:t>Netzadresse</a:t>
            </a:r>
            <a:endParaRPr lang="en-US" sz="1500" dirty="0"/>
          </a:p>
        </p:txBody>
      </p:sp>
      <p:sp>
        <p:nvSpPr>
          <p:cNvPr id="6" name="kennzahl"/>
          <p:cNvSpPr/>
          <p:nvPr/>
        </p:nvSpPr>
        <p:spPr>
          <a:xfrm>
            <a:off x="2822387" y="1325880"/>
            <a:ext cx="1999427" cy="2194560"/>
          </a:xfrm>
          <a:prstGeom prst="roundRect">
            <a:avLst>
              <a:gd name="adj" fmla="val 548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822387" y="1508760"/>
            <a:ext cx="19994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6FAD"/>
                </a:solidFill>
              </a:rPr>
              <a:t>.1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005267" y="2697480"/>
            <a:ext cx="163366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03A"/>
                </a:solidFill>
              </a:rPr>
              <a:t>Gateway</a:t>
            </a:r>
            <a:endParaRPr lang="en-US" sz="1500" dirty="0"/>
          </a:p>
        </p:txBody>
      </p:sp>
      <p:sp>
        <p:nvSpPr>
          <p:cNvPr id="9" name="kennzahl"/>
          <p:cNvSpPr/>
          <p:nvPr/>
        </p:nvSpPr>
        <p:spPr>
          <a:xfrm>
            <a:off x="5096134" y="1325880"/>
            <a:ext cx="1999427" cy="2194560"/>
          </a:xfrm>
          <a:prstGeom prst="roundRect">
            <a:avLst>
              <a:gd name="adj" fmla="val 548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96134" y="1508760"/>
            <a:ext cx="19994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6FAD"/>
                </a:solidFill>
              </a:rPr>
              <a:t>.2 .3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5279014" y="2697480"/>
            <a:ext cx="163366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03A"/>
                </a:solidFill>
              </a:rPr>
              <a:t>Azure-DNS</a:t>
            </a:r>
            <a:endParaRPr lang="en-US" sz="1500" dirty="0"/>
          </a:p>
        </p:txBody>
      </p:sp>
      <p:sp>
        <p:nvSpPr>
          <p:cNvPr id="12" name="kennzahl"/>
          <p:cNvSpPr/>
          <p:nvPr/>
        </p:nvSpPr>
        <p:spPr>
          <a:xfrm>
            <a:off x="7369881" y="1325880"/>
            <a:ext cx="1999427" cy="2194560"/>
          </a:xfrm>
          <a:prstGeom prst="roundRect">
            <a:avLst>
              <a:gd name="adj" fmla="val 548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69881" y="1508760"/>
            <a:ext cx="19994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6FAD"/>
                </a:solidFill>
              </a:rPr>
              <a:t>.255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7552761" y="2697480"/>
            <a:ext cx="163366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03A"/>
                </a:solidFill>
              </a:rPr>
              <a:t>Broadcast</a:t>
            </a:r>
            <a:endParaRPr lang="en-US" sz="1500" dirty="0"/>
          </a:p>
        </p:txBody>
      </p:sp>
      <p:sp>
        <p:nvSpPr>
          <p:cNvPr id="15" name="kennzahl"/>
          <p:cNvSpPr/>
          <p:nvPr/>
        </p:nvSpPr>
        <p:spPr>
          <a:xfrm>
            <a:off x="9643628" y="1325880"/>
            <a:ext cx="1999427" cy="2194560"/>
          </a:xfrm>
          <a:prstGeom prst="roundRect">
            <a:avLst>
              <a:gd name="adj" fmla="val 5488"/>
            </a:avLst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43628" y="1508760"/>
            <a:ext cx="19994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.4</a:t>
            </a:r>
            <a:endParaRPr lang="en-US" sz="5400" dirty="0"/>
          </a:p>
        </p:txBody>
      </p:sp>
      <p:sp>
        <p:nvSpPr>
          <p:cNvPr id="17" name="Text 15"/>
          <p:cNvSpPr txBox="1"/>
          <p:nvPr/>
        </p:nvSpPr>
        <p:spPr>
          <a:xfrm>
            <a:off x="9826508" y="2697480"/>
            <a:ext cx="163366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erste VM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840480"/>
            <a:ext cx="110944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In 10.10.1.0/24 bekommt die erste VM darum 10.10.1.4.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Rechne beim Planen immer mit 5 Adressen weniger.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IP-Adressen in Azure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Lock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Lock" descr="C:\Users\Thanam\AppData\Local\Temp\claude\c--Projekt-Trainings-azure-basics-training\a7a6b8eb-22f3-4b42-aecc-5af05d1502b1\scratchpad\folien\assets\icons\Fa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Private IP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nur im VNet erreichbar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kommt aus dem Subnetz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bleibt bei Neustarts gleich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GlobeEurope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GlobeEurope" descr="C:\Users\Thanam\AppData\Local\Temp\claude\c--Projekt-Trainings-azure-basics-training\a7a6b8eb-22f3-4b42-aecc-5af05d1502b1\scratchpad\folien\assets\icons\FaGlobeEuro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Öffentliche IP (Public IP)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eigene Ressource, statisch (Standard-SKU)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kostet auch bei gestoppter VM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gesperrt, bis eine NSG-Regel erlaubt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Achtung: Eine VM ohne öffentliche IP kommt in neuen Subnetzen evtl. nicht ins Internet (z. B. apt).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7303A"/>
                </a:solidFill>
              </a:rPr>
              <a:t>Netzwerksicherheitsgruppen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Network Security Groups (NSG) · Input 2 · Tag 4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Die NSG: ein Türsteher mit Gästeliste</a:t>
            </a:r>
            <a:endParaRPr lang="en-US" sz="3400" dirty="0"/>
          </a:p>
        </p:txBody>
      </p:sp>
      <p:sp>
        <p:nvSpPr>
          <p:cNvPr id="3" name="vergleich-box"/>
          <p:cNvSpPr/>
          <p:nvPr/>
        </p:nvSpPr>
        <p:spPr>
          <a:xfrm>
            <a:off x="548640" y="1508760"/>
            <a:ext cx="11094415" cy="2743200"/>
          </a:xfrm>
          <a:prstGeom prst="roundRect">
            <a:avLst>
              <a:gd name="adj" fmla="val 5000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4" name="icon-kreis-FaDoorOpen"/>
          <p:cNvSpPr/>
          <p:nvPr/>
        </p:nvSpPr>
        <p:spPr>
          <a:xfrm>
            <a:off x="1005840" y="2240280"/>
            <a:ext cx="1280160" cy="128016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DoorOpen" descr="C:\Users\Thanam\AppData\Local\Temp\claude\c--Projekt-Trainings-azure-basics-training\a7a6b8eb-22f3-4b42-aecc-5af05d1502b1\scratchpad\folien\assets\icons\FaDoor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3078" y="2547518"/>
            <a:ext cx="665683" cy="66568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651760" y="1691640"/>
            <a:ext cx="862553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27303A"/>
                </a:solidFill>
              </a:rPr>
              <a:t>Er geht die Liste von oben nach unten durch. Der erste Eintrag, der passt, entscheidet.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526280"/>
            <a:ext cx="1109441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Jede Regel: Priorität (100–4096, kleine Zahl zuerst), Quelle, Ziel, Zielport, Protokoll, Allow/Deny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Verknüpfen mit einem Subnetz (empfohlen) oder einer NIC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VNet, Subnetze und NSG</a:t>
            </a:r>
            <a:endParaRPr lang="en-US" sz="3400" dirty="0"/>
          </a:p>
        </p:txBody>
      </p:sp>
      <p:pic>
        <p:nvPicPr>
          <p:cNvPr id="3" name="diagramm" descr="VNet, Subnetze und NS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0326" y="1325880"/>
            <a:ext cx="9091042" cy="4709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Standardregeln (eingehend)</a:t>
            </a:r>
            <a:endParaRPr lang="en-US" sz="3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613733"/>
                <a:gridCol w="4437766"/>
                <a:gridCol w="504291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Priorität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Regel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Wirkung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65000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AllowVnetInBound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Verkehr innerhalb des VNets erlaubt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65001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AllowAzureLoadBalancerInBound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Azure-Load-Balancer erlaubt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65500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DenyAllInBound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alles andere blockiert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Eigene Regel mit kleinerer Prioritätszahl wird früher geprüft und übersteuert die Standardregeln.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Merke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ExchangeAlt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ExchangeAlt" descr="C:\Users\Thanam\AppData\Local\Temp\claude\c--Projekt-Trainings-azure-basics-training\a7a6b8eb-22f3-4b42-aecc-5af05d1502b1\scratchpad\folien\assets\icons\FaExchange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Stateful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Ist die Anfrage erlaubt, darf die Antwort automatisch zurück.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UserShield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UserShield" descr="C:\Users\Thanam\AppData\Local\Temp\claude\c--Projekt-Trainings-azure-basics-training\a7a6b8eb-22f3-4b42-aecc-5af05d1502b1\scratchpad\folien\assets\icons\FaUser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Quelle einschränken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SSH (22) nie für Any, nur für deine IP.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Plug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Plug" descr="C:\Users\Thanam\AppData\Local\Temp\claude\c--Projekt-Trainings-azure-basics-training\a7a6b8eb-22f3-4b42-aecc-5af05d1502b1\scratchpad\folien\assets\icons\FaPlu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Wichtige Ports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22 SSH · 80 HTTP · 443 HTTPS · 3389 RDP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Der Weg einer Anfrage</a:t>
            </a:r>
            <a:endParaRPr lang="en-US" sz="3400" dirty="0"/>
          </a:p>
        </p:txBody>
      </p:sp>
      <p:pic>
        <p:nvPicPr>
          <p:cNvPr id="3" name="diagramm" descr="Der Weg einer Anf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60225"/>
            <a:ext cx="11094415" cy="264047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Rechnen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Wie viele VMs passen höchstens in 10.10.1.0/28?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Priorität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Regel 100 «Deny TCP 80», Regel 200 «Allow TCP 80». Ist die Website erreichbar?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7a6b8eb-22f3-4b42-aecc-5af05d1502b1\scratchpad\folien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Antwort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Keine ausgehende Regel erstellt – kommt die Antwort trotzdem an?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4460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7a6b8eb-22f3-4b42-aecc-5af05d1502b1\scratchpad\folien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57769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2402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 im Repository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theorie/06-azure-networking.md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40614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7a6b8eb-22f3-4b42-aecc-5af05d1502b1\scratchpad\folien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5378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200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Learn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Was ist Azure Virtual Network? · Netzwerksicherheitsgruppen</a:t>
            </a:r>
            <a:endParaRPr lang="en-US" sz="1800" dirty="0"/>
          </a:p>
        </p:txBody>
      </p:sp>
      <p:sp>
        <p:nvSpPr>
          <p:cNvPr id="9" name="icon-kreis-FaBook"/>
          <p:cNvSpPr/>
          <p:nvPr/>
        </p:nvSpPr>
        <p:spPr>
          <a:xfrm>
            <a:off x="548640" y="43662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Book" descr="C:\Users\Thanam\AppData\Local\Temp\claude\c--Projekt-Trainings-azure-basics-training\a7a6b8eb-22f3-4b42-aecc-5af05d1502b1\scratchpad\folien\assets\icons\Fa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49793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41605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TBZ M346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Netzwerk und Sicherheit (Struktur und Texte, für Azure angepasst)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7303A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Auftrag 4.1: Subnetting · Auftrag 4.3: Zwei VMs im VNet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Azure Networking</dc:title>
  <dc:subject>PptxGenJS Presentation</dc:subject>
  <dc:creator>PAT Cloud Solutions</dc:creator>
  <cp:lastModifiedBy>PAT Cloud Solutions</cp:lastModifiedBy>
  <cp:revision>1</cp:revision>
  <dcterms:created xsi:type="dcterms:W3CDTF">2026-10-25T19:46:04Z</dcterms:created>
  <dcterms:modified xsi:type="dcterms:W3CDTF">2026-10-25T19:46:04Z</dcterms:modified>
</cp:coreProperties>
</file>