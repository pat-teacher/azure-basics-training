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irtualisierung" id="{41cd8610-f5f3-633a-acf2-b6c97474ba40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Multipass und cloud-init" id="{9fc0fef0-0e9e-ef58-7e7e-87416b717f66}">
          <p14:sldIdLst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Theorie: theorie/01-virtualisierung.md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Live-Demo: Hyper-V-Manager öffnen und eine laufende Multipass-VM zeigen.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 1 direkt auf der Hardware, Typ 2 als Programm auf einem Betriebssystem.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Spezialfall Hyper-V unter Windows: Windows läuft danach selbst als VM auf dem Hypervisor → Typ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Für ICT-Fachleute reicht diese Ebene. Zeitscheiben und Swap nur auf Nachfrage vertiefen.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Container teilen den Kernel, VMs bringen ein ganzes Betriebssystem mit. Container sind optional (⭐ Auftrag 1.7).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Multipass lädt Ubuntu selbst herunter und verwendet im Hintergrund Hyper-V.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Nach Auftrag 1.4: Zeiten der Klasse abfragen, auf 10 Server hochrechnen. Live-Demo: multipass launch --name auto --cloud-init cloud-init-tag1.yaml. Betonen: läuft nur beim ersten Start. In Azure an Tag 5 genau gleich.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Kurz vor Auftrag 1.6. Live: ssh-keygen -t ed25519.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VirtualBox Typ 2, Hyper-V Typ 1. Nur beim ersten Start. Nein, Container teilen den Kernel.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hanam\AppData\Local\Temp\claude\c--Projekt-Trainings-azure-basics-training\a7a6b8eb-22f3-4b42-aecc-5af05d1502b1\scratchpad\folien\assets\logo-dunk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2468880" cy="640080"/>
          </a:xfrm>
          <a:prstGeom prst="rect">
            <a:avLst/>
          </a:prstGeom>
        </p:spPr>
      </p:pic>
      <p:pic>
        <p:nvPicPr>
          <p:cNvPr id="3" name="Image 1" descr="C:\Users\Thanam\AppData\Local\Temp\claude\c--Projekt-Trainings-azure-basics-training\a7a6b8eb-22f3-4b42-aecc-5af05d1502b1\scratchpad\folien\assets\wolk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2011680"/>
            <a:ext cx="3200400" cy="19476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2103120"/>
            <a:ext cx="75895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27303A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3794760"/>
            <a:ext cx="75895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006FAD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6" name="Text 0"/>
          <p:cNvSpPr/>
          <p:nvPr/>
        </p:nvSpPr>
        <p:spPr>
          <a:xfrm>
            <a:off x="548640" y="6126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F6F"/>
                </a:solidFill>
              </a:rPr>
              <a:t>Kanton Zürich · ICT-Grundbildung · PAT Cloud Solutions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PITEL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hanam\AppData\Local\Temp\claude\c--Projekt-Trainings-azure-basics-training\a7a6b8eb-22f3-4b42-aecc-5af05d1502b1\scratchpad\folien\assets\wol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2194560"/>
            <a:ext cx="2743200" cy="1664208"/>
          </a:xfrm>
          <a:prstGeom prst="rect">
            <a:avLst/>
          </a:prstGeom>
        </p:spPr>
      </p:pic>
      <p:pic>
        <p:nvPicPr>
          <p:cNvPr id="3" name="Image 1" descr="C:\Users\Thanam\AppData\Local\Temp\claude\c--Projekt-Trainings-azure-basics-training\a7a6b8eb-22f3-4b42-aecc-5af05d1502b1\scratchpad\folien\assets\logo-dunk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263640"/>
            <a:ext cx="1371600" cy="356616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219456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27303A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3703320"/>
            <a:ext cx="78638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006FAD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hanam\AppData\Local\Temp\claude\c--Projekt-Trainings-azure-basics-training\a7a6b8eb-22f3-4b42-aecc-5af05d1502b1\scratchpad\folien\assets\logo-dunk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82512"/>
            <a:ext cx="1060704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28800" y="633679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F6F"/>
                </a:solidFill>
              </a:rPr>
              <a:t>Einführung in Cloud Computing mit Microsoft Azure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27303A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hanam\AppData\Local\Temp\claude\c--Projekt-Trainings-azure-basics-training\a7a6b8eb-22f3-4b42-aecc-5af05d1502b1\scratchpad\folien\assets\logo-dunk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2468880" cy="64008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554480"/>
            <a:ext cx="1109441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27303A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603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006FAD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1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48640" y="210312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7303A"/>
                </a:solidFill>
              </a:rPr>
              <a:t>Virtualisierung</a:t>
            </a:r>
            <a:endParaRPr lang="en-US" sz="44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548640" y="3794760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6FAD"/>
                </a:solidFill>
              </a:rPr>
              <a:t>Inputs Tag 1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Darum geht's</a:t>
            </a:r>
            <a:endParaRPr lang="en-US" sz="3400" dirty="0"/>
          </a:p>
        </p:txBody>
      </p:sp>
      <p:sp>
        <p:nvSpPr>
          <p:cNvPr id="3" name="karte"/>
          <p:cNvSpPr/>
          <p:nvPr/>
        </p:nvSpPr>
        <p:spPr>
          <a:xfrm>
            <a:off x="548640" y="1325880"/>
            <a:ext cx="5410048" cy="2217420"/>
          </a:xfrm>
          <a:prstGeom prst="roundRect">
            <a:avLst>
              <a:gd name="adj" fmla="val 4948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4" name="icon-kreis-FaLayerGroup"/>
          <p:cNvSpPr/>
          <p:nvPr/>
        </p:nvSpPr>
        <p:spPr>
          <a:xfrm>
            <a:off x="822960" y="160020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5" name="icon-FaLayerGroup" descr="C:\Users\Thanam\AppData\Local\Temp\claude\c--Projekt-Trainings-azure-basics-training\a7a6b8eb-22f3-4b42-aecc-5af05d1502b1\scratchpad\folien\assets\icons\FaLayerGro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175381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600200"/>
            <a:ext cx="408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Hypervisor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23160"/>
            <a:ext cx="4861408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Was er macht und welche Typen es gibt</a:t>
            </a:r>
            <a:endParaRPr lang="en-US" sz="1600" dirty="0"/>
          </a:p>
        </p:txBody>
      </p:sp>
      <p:sp>
        <p:nvSpPr>
          <p:cNvPr id="8" name="karte"/>
          <p:cNvSpPr/>
          <p:nvPr/>
        </p:nvSpPr>
        <p:spPr>
          <a:xfrm>
            <a:off x="6233008" y="1325880"/>
            <a:ext cx="5410048" cy="2217420"/>
          </a:xfrm>
          <a:prstGeom prst="roundRect">
            <a:avLst>
              <a:gd name="adj" fmla="val 4948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9" name="icon-kreis-FaMemory"/>
          <p:cNvSpPr/>
          <p:nvPr/>
        </p:nvSpPr>
        <p:spPr>
          <a:xfrm>
            <a:off x="6507328" y="160020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0" name="icon-FaMemory" descr="C:\Users\Thanam\AppData\Local\Temp\claude\c--Projekt-Trainings-azure-basics-training\a7a6b8eb-22f3-4b42-aecc-5af05d1502b1\scratchpad\folien\assets\icons\FaMemo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947" y="175381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30288" y="1600200"/>
            <a:ext cx="408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Hardware teilen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6507328" y="2423160"/>
            <a:ext cx="4861408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CPU, RAM und Festplatte für jede VM</a:t>
            </a:r>
            <a:endParaRPr lang="en-US" sz="1600" dirty="0"/>
          </a:p>
        </p:txBody>
      </p:sp>
      <p:sp>
        <p:nvSpPr>
          <p:cNvPr id="13" name="karte"/>
          <p:cNvSpPr/>
          <p:nvPr/>
        </p:nvSpPr>
        <p:spPr>
          <a:xfrm>
            <a:off x="548640" y="3817620"/>
            <a:ext cx="5410048" cy="2217420"/>
          </a:xfrm>
          <a:prstGeom prst="roundRect">
            <a:avLst>
              <a:gd name="adj" fmla="val 4948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4" name="icon-kreis-FaRocket"/>
          <p:cNvSpPr/>
          <p:nvPr/>
        </p:nvSpPr>
        <p:spPr>
          <a:xfrm>
            <a:off x="822960" y="409194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5" name="icon-FaRocket" descr="C:\Users\Thanam\AppData\Local\Temp\claude\c--Projekt-Trainings-azure-basics-training\a7a6b8eb-22f3-4b42-aecc-5af05d1502b1\scratchpad\folien\assets\icons\FaRock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424555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45920" y="4091940"/>
            <a:ext cx="408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Multipass und cloud-init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22960" y="4914900"/>
            <a:ext cx="4861408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Eine VM mit einem Befehl – und automatisch eingerichtet</a:t>
            </a:r>
            <a:endParaRPr lang="en-US" sz="1600" dirty="0"/>
          </a:p>
        </p:txBody>
      </p:sp>
      <p:sp>
        <p:nvSpPr>
          <p:cNvPr id="18" name="karte"/>
          <p:cNvSpPr/>
          <p:nvPr/>
        </p:nvSpPr>
        <p:spPr>
          <a:xfrm>
            <a:off x="6233008" y="3817620"/>
            <a:ext cx="5410048" cy="2217420"/>
          </a:xfrm>
          <a:prstGeom prst="roundRect">
            <a:avLst>
              <a:gd name="adj" fmla="val 4948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9" name="icon-kreis-FaKey"/>
          <p:cNvSpPr/>
          <p:nvPr/>
        </p:nvSpPr>
        <p:spPr>
          <a:xfrm>
            <a:off x="6507328" y="409194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20" name="icon-FaKey" descr="C:\Users\Thanam\AppData\Local\Temp\claude\c--Projekt-Trainings-azure-basics-training\a7a6b8eb-22f3-4b42-aecc-5af05d1502b1\scratchpad\folien\assets\icons\FaKe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0947" y="4245559"/>
            <a:ext cx="332842" cy="33284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30288" y="4091940"/>
            <a:ext cx="408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SSH-Schlüssel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6507328" y="4914900"/>
            <a:ext cx="4861408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Dein Zugang zu Servern in der Cloud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Was ist Virtualisierung?</a:t>
            </a:r>
            <a:endParaRPr lang="en-US" sz="3400" dirty="0"/>
          </a:p>
        </p:txBody>
      </p:sp>
      <p:sp>
        <p:nvSpPr>
          <p:cNvPr id="3" name="vergleich-box"/>
          <p:cNvSpPr/>
          <p:nvPr/>
        </p:nvSpPr>
        <p:spPr>
          <a:xfrm>
            <a:off x="548640" y="1508760"/>
            <a:ext cx="11094415" cy="2743200"/>
          </a:xfrm>
          <a:prstGeom prst="roundRect">
            <a:avLst>
              <a:gd name="adj" fmla="val 5000"/>
            </a:avLst>
          </a:prstGeom>
          <a:solidFill>
            <a:srgbClr val="DEE2FB"/>
          </a:solidFill>
          <a:ln w="12700">
            <a:solidFill>
              <a:srgbClr val="DEE2FB"/>
            </a:solidFill>
            <a:prstDash val="solid"/>
          </a:ln>
        </p:spPr>
      </p:sp>
      <p:sp>
        <p:nvSpPr>
          <p:cNvPr id="4" name="icon-kreis-FaBuilding"/>
          <p:cNvSpPr/>
          <p:nvPr/>
        </p:nvSpPr>
        <p:spPr>
          <a:xfrm>
            <a:off x="1005840" y="2240280"/>
            <a:ext cx="1280160" cy="128016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5" name="icon-FaBuilding" descr="C:\Users\Thanam\AppData\Local\Temp\claude\c--Projekt-Trainings-azure-basics-training\a7a6b8eb-22f3-4b42-aecc-5af05d1502b1\scratchpad\folien\assets\icons\FaBuil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3078" y="2547518"/>
            <a:ext cx="665683" cy="66568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651760" y="1691640"/>
            <a:ext cx="862553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27303A"/>
                </a:solidFill>
              </a:rPr>
              <a:t>Ein Mehrfamilienhaus: ein Gebäude, aber jede Wohnung hat eigene Tür, Möbel und Bewohner. Die Hausverwaltung teilt Wasser, Strom und Heizung zu.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26280"/>
            <a:ext cx="1109441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7303A"/>
                </a:solidFill>
              </a:rPr>
              <a:t>Gebäude = Hardware · Wohnung = virtuelle Maschine (VM) · Hausverwaltung = Hypervisor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7303A"/>
                </a:solidFill>
              </a:rPr>
              <a:t>Ein Server ohne Virtualisierung ist oft nur zu 10–20 % ausgelastet – mit Virtualisierung laufen viele VMs darauf.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Hypervisor Typ 1 und Typ 2</a:t>
            </a:r>
            <a:endParaRPr lang="en-US" sz="3400" dirty="0"/>
          </a:p>
        </p:txBody>
      </p:sp>
      <p:pic>
        <p:nvPicPr>
          <p:cNvPr id="3" name="diagramm" descr="Hypervisor Typ 1 und Typ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3669"/>
            <a:ext cx="11094415" cy="366210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68756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F6F6F"/>
                </a:solidFill>
              </a:rPr>
              <a:t>Grafik: TBZ M346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Typ 1 oder Typ 2?</a:t>
            </a:r>
            <a:endParaRPr lang="en-US" sz="3400" dirty="0"/>
          </a:p>
        </p:txBody>
      </p:sp>
      <p:sp>
        <p:nvSpPr>
          <p:cNvPr id="3" name="vergleich"/>
          <p:cNvSpPr/>
          <p:nvPr/>
        </p:nvSpPr>
        <p:spPr>
          <a:xfrm>
            <a:off x="548640" y="1325880"/>
            <a:ext cx="5364328" cy="4160520"/>
          </a:xfrm>
          <a:prstGeom prst="roundRect">
            <a:avLst>
              <a:gd name="adj" fmla="val 2637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4" name="icon-kreis-FaServer"/>
          <p:cNvSpPr/>
          <p:nvPr/>
        </p:nvSpPr>
        <p:spPr>
          <a:xfrm>
            <a:off x="868680" y="1600200"/>
            <a:ext cx="685800" cy="68580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5" name="icon-FaServer" descr="C:\Users\Thanam\AppData\Local\Temp\claude\c--Projekt-Trainings-azure-basics-training\a7a6b8eb-22f3-4b42-aecc-5af05d1502b1\scratchpad\folien\assets\icons\Fa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76479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600200"/>
            <a:ext cx="3901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7303A"/>
                </a:solidFill>
              </a:rPr>
              <a:t>Typ 1 – bare metal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514600"/>
            <a:ext cx="472424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7303A"/>
                </a:solidFill>
              </a:rPr>
              <a:t>läuft direkt auf der Hardware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7303A"/>
                </a:solidFill>
              </a:rPr>
              <a:t>hohe Leistung, kein Betriebssystem dazwischen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7303A"/>
                </a:solidFill>
              </a:rPr>
              <a:t>Rechenzentren und Cloud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7303A"/>
                </a:solidFill>
              </a:rPr>
              <a:t>Hyper-V, VMware ESXi, KVM</a:t>
            </a:r>
            <a:endParaRPr lang="en-US" sz="1800" dirty="0"/>
          </a:p>
        </p:txBody>
      </p:sp>
      <p:sp>
        <p:nvSpPr>
          <p:cNvPr id="8" name="vergleich"/>
          <p:cNvSpPr/>
          <p:nvPr/>
        </p:nvSpPr>
        <p:spPr>
          <a:xfrm>
            <a:off x="6278728" y="1325880"/>
            <a:ext cx="5364328" cy="4160520"/>
          </a:xfrm>
          <a:prstGeom prst="roundRect">
            <a:avLst>
              <a:gd name="adj" fmla="val 2637"/>
            </a:avLst>
          </a:prstGeom>
          <a:solidFill>
            <a:srgbClr val="DEE2FB"/>
          </a:solidFill>
          <a:ln w="12700">
            <a:solidFill>
              <a:srgbClr val="DEE2FB"/>
            </a:solidFill>
            <a:prstDash val="solid"/>
          </a:ln>
        </p:spPr>
      </p:sp>
      <p:sp>
        <p:nvSpPr>
          <p:cNvPr id="9" name="icon-kreis-FaLaptop"/>
          <p:cNvSpPr/>
          <p:nvPr/>
        </p:nvSpPr>
        <p:spPr>
          <a:xfrm>
            <a:off x="6598768" y="1600200"/>
            <a:ext cx="685800" cy="685800"/>
          </a:xfrm>
          <a:prstGeom prst="ellipse">
            <a:avLst/>
          </a:prstGeom>
          <a:solidFill>
            <a:srgbClr val="27303A"/>
          </a:solidFill>
          <a:ln w="12700">
            <a:solidFill>
              <a:srgbClr val="27303A"/>
            </a:solidFill>
            <a:prstDash val="solid"/>
          </a:ln>
        </p:spPr>
      </p:sp>
      <p:pic>
        <p:nvPicPr>
          <p:cNvPr id="10" name="icon-FaLaptop" descr="C:\Users\Thanam\AppData\Local\Temp\claude\c--Projekt-Trainings-azure-basics-training\a7a6b8eb-22f3-4b42-aecc-5af05d1502b1\scratchpad\folien\assets\icons\FaLapt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3360" y="176479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67448" y="1600200"/>
            <a:ext cx="3901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7303A"/>
                </a:solidFill>
              </a:rPr>
              <a:t>Typ 2 – hosted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6598768" y="2514600"/>
            <a:ext cx="472424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7303A"/>
                </a:solidFill>
              </a:rPr>
              <a:t>läuft als Programm auf Windows, macOS, Linux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7303A"/>
                </a:solidFill>
              </a:rPr>
              <a:t>etwas weniger Leistung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7303A"/>
                </a:solidFill>
              </a:rPr>
              <a:t>Laptop, Tests, Schulung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7303A"/>
                </a:solidFill>
              </a:rPr>
              <a:t>VirtualBox, VMware Workstation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FAD"/>
                </a:solidFill>
              </a:rPr>
              <a:t>Auch Azure läuft auf einer angepassten Version von Hyper-V.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VMs teilen sich die Hardware</a:t>
            </a:r>
            <a:endParaRPr lang="en-US" sz="3400" dirty="0"/>
          </a:p>
        </p:txBody>
      </p:sp>
      <p:sp>
        <p:nvSpPr>
          <p:cNvPr id="3" name="kennzahl"/>
          <p:cNvSpPr/>
          <p:nvPr/>
        </p:nvSpPr>
        <p:spPr>
          <a:xfrm>
            <a:off x="548640" y="1325880"/>
            <a:ext cx="3515258" cy="2194560"/>
          </a:xfrm>
          <a:prstGeom prst="roundRect">
            <a:avLst>
              <a:gd name="adj" fmla="val 5000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35152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6FAD"/>
                </a:solidFill>
              </a:rPr>
              <a:t>8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697480"/>
            <a:ext cx="31494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7303A"/>
                </a:solidFill>
              </a:rPr>
              <a:t>Prozessoren im Laptop</a:t>
            </a:r>
            <a:endParaRPr lang="en-US" sz="1500" dirty="0"/>
          </a:p>
        </p:txBody>
      </p:sp>
      <p:sp>
        <p:nvSpPr>
          <p:cNvPr id="6" name="kennzahl"/>
          <p:cNvSpPr/>
          <p:nvPr/>
        </p:nvSpPr>
        <p:spPr>
          <a:xfrm>
            <a:off x="4338218" y="1325880"/>
            <a:ext cx="3515258" cy="2194560"/>
          </a:xfrm>
          <a:prstGeom prst="roundRect">
            <a:avLst>
              <a:gd name="adj" fmla="val 5000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338218" y="1508760"/>
            <a:ext cx="35152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6FAD"/>
                </a:solidFill>
              </a:rPr>
              <a:t>3 × 4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4521098" y="2697480"/>
            <a:ext cx="31494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7303A"/>
                </a:solidFill>
              </a:rPr>
              <a:t>VMs mit je 4 vCPUs</a:t>
            </a:r>
            <a:endParaRPr lang="en-US" sz="1500" dirty="0"/>
          </a:p>
        </p:txBody>
      </p:sp>
      <p:sp>
        <p:nvSpPr>
          <p:cNvPr id="9" name="kennzahl"/>
          <p:cNvSpPr/>
          <p:nvPr/>
        </p:nvSpPr>
        <p:spPr>
          <a:xfrm>
            <a:off x="8127797" y="1325880"/>
            <a:ext cx="3515258" cy="2194560"/>
          </a:xfrm>
          <a:prstGeom prst="roundRect">
            <a:avLst>
              <a:gd name="adj" fmla="val 5000"/>
            </a:avLst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27797" y="1508760"/>
            <a:ext cx="35152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12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8310677" y="2697480"/>
            <a:ext cx="31494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vCPUs zusammen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840480"/>
            <a:ext cx="1109441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7303A"/>
                </a:solidFill>
              </a:rPr>
              <a:t>Die VMs teilen sich die echten Prozessoren abwechselnd. Das heisst Überbuchung (Overcommitment).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7303A"/>
                </a:solidFill>
              </a:rPr>
              <a:t>Solange nicht alle gleichzeitig voll arbeiten, merkt man nichts. Sonst wird es langsam.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VM und Container</a:t>
            </a:r>
            <a:endParaRPr lang="en-US" sz="3400" dirty="0"/>
          </a:p>
        </p:txBody>
      </p:sp>
      <p:pic>
        <p:nvPicPr>
          <p:cNvPr id="3" name="diagramm" descr="VM und Contain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4560"/>
            <a:ext cx="11094415" cy="397180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48640" y="219456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7303A"/>
                </a:solidFill>
              </a:rPr>
              <a:t>Automatisch statt von Hand</a:t>
            </a:r>
            <a:endParaRPr lang="en-US" sz="40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548640" y="370332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6FAD"/>
                </a:solidFill>
              </a:rPr>
              <a:t>Multipass und cloud-init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Multipass: eine VM mit einem Befehl</a:t>
            </a:r>
            <a:endParaRPr lang="en-US" sz="3400" dirty="0"/>
          </a:p>
        </p:txBody>
      </p:sp>
      <p:sp>
        <p:nvSpPr>
          <p:cNvPr id="3" name="code-box"/>
          <p:cNvSpPr/>
          <p:nvPr/>
        </p:nvSpPr>
        <p:spPr>
          <a:xfrm>
            <a:off x="548640" y="1325880"/>
            <a:ext cx="6583680" cy="4709160"/>
          </a:xfrm>
          <a:prstGeom prst="roundRect">
            <a:avLst>
              <a:gd name="adj" fmla="val 1942"/>
            </a:avLst>
          </a:prstGeom>
          <a:solidFill>
            <a:srgbClr val="27303A"/>
          </a:solidFill>
          <a:ln w="12700">
            <a:solidFill>
              <a:srgbClr val="2730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60350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7F7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multipass launch --name vm1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7F7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multipass list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7F7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multipass shell vm1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7F7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multipass exec vm1 -- free -h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7F7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multipass stop vm1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7F7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multipass delete --purge vm1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1325880"/>
            <a:ext cx="41449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6FAD"/>
                </a:solidFill>
              </a:rPr>
              <a:t>launch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7303A"/>
                </a:solidFill>
              </a:rPr>
              <a:t>VM erstellen und starten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498080" y="2468880"/>
            <a:ext cx="41449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6FAD"/>
                </a:solidFill>
              </a:rPr>
              <a:t>list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7303A"/>
                </a:solidFill>
              </a:rPr>
              <a:t>alle VMs anzeigen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498080" y="3611880"/>
            <a:ext cx="41449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6FAD"/>
                </a:solidFill>
              </a:rPr>
              <a:t>shell / exec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7303A"/>
                </a:solidFill>
              </a:rPr>
              <a:t>in der VM arbeiten / einen Befehl ausführen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498080" y="4754880"/>
            <a:ext cx="41449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6FAD"/>
                </a:solidFill>
              </a:rPr>
              <a:t>stop / delete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7303A"/>
                </a:solidFill>
              </a:rPr>
              <a:t>VM stoppen / endgültig löschen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cloud-init: die VM richtet sich selbst ein</a:t>
            </a:r>
            <a:endParaRPr lang="en-US" sz="3400" dirty="0"/>
          </a:p>
        </p:txBody>
      </p:sp>
      <p:sp>
        <p:nvSpPr>
          <p:cNvPr id="3" name="code-box"/>
          <p:cNvSpPr/>
          <p:nvPr/>
        </p:nvSpPr>
        <p:spPr>
          <a:xfrm>
            <a:off x="548640" y="1325880"/>
            <a:ext cx="7680960" cy="4709160"/>
          </a:xfrm>
          <a:prstGeom prst="roundRect">
            <a:avLst>
              <a:gd name="adj" fmla="val 1942"/>
            </a:avLst>
          </a:prstGeom>
          <a:solidFill>
            <a:srgbClr val="27303A"/>
          </a:solidFill>
          <a:ln w="12700">
            <a:solidFill>
              <a:srgbClr val="2730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713232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7F7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#cloud-config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7F7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package_update: true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7F7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packages: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7F7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tree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7F7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htop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7F7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write_files: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7F7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path: /opt/willkommen.txt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7F7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content: |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7F7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Diese Datei hat cloud-init erstellt.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7F7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runcmd: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7F7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echo "Fertig am $(date)" &gt;&gt; /opt/willkommen.txt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595360" y="1325880"/>
            <a:ext cx="30476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6FAD"/>
                </a:solidFill>
              </a:rPr>
              <a:t>#cloud-config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7303A"/>
                </a:solidFill>
              </a:rPr>
              <a:t>muss die erste Zeile sein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595360" y="2468880"/>
            <a:ext cx="30476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6FAD"/>
                </a:solidFill>
              </a:rPr>
              <a:t>packages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7303A"/>
                </a:solidFill>
              </a:rPr>
              <a:t>Programme installieren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595360" y="3611880"/>
            <a:ext cx="30476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6FAD"/>
                </a:solidFill>
              </a:rPr>
              <a:t>write_files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7303A"/>
                </a:solidFill>
              </a:rPr>
              <a:t>Dateien anlegen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595360" y="4754880"/>
            <a:ext cx="30476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6FAD"/>
                </a:solidFill>
              </a:rPr>
              <a:t>runcmd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7303A"/>
                </a:solidFill>
              </a:rPr>
              <a:t>Befehle ausführen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SSH-Schlüssel: Schloss und Schlüssel</a:t>
            </a:r>
            <a:endParaRPr lang="en-US" sz="3400" dirty="0"/>
          </a:p>
        </p:txBody>
      </p:sp>
      <p:sp>
        <p:nvSpPr>
          <p:cNvPr id="3" name="vergleich"/>
          <p:cNvSpPr/>
          <p:nvPr/>
        </p:nvSpPr>
        <p:spPr>
          <a:xfrm>
            <a:off x="548640" y="1325880"/>
            <a:ext cx="5364328" cy="4709160"/>
          </a:xfrm>
          <a:prstGeom prst="roundRect">
            <a:avLst>
              <a:gd name="adj" fmla="val 2330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4" name="icon-kreis-FaLock"/>
          <p:cNvSpPr/>
          <p:nvPr/>
        </p:nvSpPr>
        <p:spPr>
          <a:xfrm>
            <a:off x="868680" y="1600200"/>
            <a:ext cx="685800" cy="68580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5" name="icon-FaLock" descr="C:\Users\Thanam\AppData\Local\Temp\claude\c--Projekt-Trainings-azure-basics-training\a7a6b8eb-22f3-4b42-aecc-5af05d1502b1\scratchpad\folien\assets\icons\Fa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76479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600200"/>
            <a:ext cx="3901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7303A"/>
                </a:solidFill>
              </a:rPr>
              <a:t>Öffentlicher Schlüssel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514600"/>
            <a:ext cx="4724248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7303A"/>
                </a:solidFill>
              </a:rPr>
              <a:t>id_ed25519.pub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7303A"/>
                </a:solidFill>
              </a:rPr>
              <a:t>das Schloss – kommt auf den Server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7303A"/>
                </a:solidFill>
              </a:rPr>
              <a:t>darf jeder sehen</a:t>
            </a:r>
            <a:endParaRPr lang="en-US" sz="1800" dirty="0"/>
          </a:p>
        </p:txBody>
      </p:sp>
      <p:sp>
        <p:nvSpPr>
          <p:cNvPr id="8" name="vergleich"/>
          <p:cNvSpPr/>
          <p:nvPr/>
        </p:nvSpPr>
        <p:spPr>
          <a:xfrm>
            <a:off x="6278728" y="1325880"/>
            <a:ext cx="5364328" cy="4709160"/>
          </a:xfrm>
          <a:prstGeom prst="roundRect">
            <a:avLst>
              <a:gd name="adj" fmla="val 2330"/>
            </a:avLst>
          </a:prstGeom>
          <a:solidFill>
            <a:srgbClr val="DEE2FB"/>
          </a:solidFill>
          <a:ln w="12700">
            <a:solidFill>
              <a:srgbClr val="DEE2FB"/>
            </a:solidFill>
            <a:prstDash val="solid"/>
          </a:ln>
        </p:spPr>
      </p:sp>
      <p:sp>
        <p:nvSpPr>
          <p:cNvPr id="9" name="icon-kreis-FaKey"/>
          <p:cNvSpPr/>
          <p:nvPr/>
        </p:nvSpPr>
        <p:spPr>
          <a:xfrm>
            <a:off x="6598768" y="1600200"/>
            <a:ext cx="685800" cy="685800"/>
          </a:xfrm>
          <a:prstGeom prst="ellipse">
            <a:avLst/>
          </a:prstGeom>
          <a:solidFill>
            <a:srgbClr val="27303A"/>
          </a:solidFill>
          <a:ln w="12700">
            <a:solidFill>
              <a:srgbClr val="27303A"/>
            </a:solidFill>
            <a:prstDash val="solid"/>
          </a:ln>
        </p:spPr>
      </p:sp>
      <p:pic>
        <p:nvPicPr>
          <p:cNvPr id="10" name="icon-FaKey" descr="C:\Users\Thanam\AppData\Local\Temp\claude\c--Projekt-Trainings-azure-basics-training\a7a6b8eb-22f3-4b42-aecc-5af05d1502b1\scratchpad\folien\assets\icons\FaKe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3360" y="176479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67448" y="1600200"/>
            <a:ext cx="3901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7303A"/>
                </a:solidFill>
              </a:rPr>
              <a:t>Privater Schlüssel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6598768" y="2514600"/>
            <a:ext cx="4724248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7303A"/>
                </a:solidFill>
              </a:rPr>
              <a:t>id_ed25519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7303A"/>
                </a:solidFill>
              </a:rPr>
              <a:t>der einzige Schlüssel zum Schloss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7303A"/>
                </a:solidFill>
              </a:rPr>
              <a:t>bleibt auf deinem Laptop – nie weitergeben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Selbsttest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F6F"/>
                </a:solidFill>
              </a:rPr>
              <a:t>Erst selbst überlegen, dann mit dem Nachbarn vergleichen.</a:t>
            </a:r>
            <a:endParaRPr lang="en-US" sz="1600" dirty="0"/>
          </a:p>
        </p:txBody>
      </p:sp>
      <p:sp>
        <p:nvSpPr>
          <p:cNvPr id="4" name="karte"/>
          <p:cNvSpPr/>
          <p:nvPr/>
        </p:nvSpPr>
        <p:spPr>
          <a:xfrm>
            <a:off x="548640" y="2743200"/>
            <a:ext cx="351525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5" name="icon-kreis-FaQuestionCircle"/>
          <p:cNvSpPr/>
          <p:nvPr/>
        </p:nvSpPr>
        <p:spPr>
          <a:xfrm>
            <a:off x="822960" y="301752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6" name="icon-FaQuestionCircle" descr="C:\Users\Thanam\AppData\Local\Temp\claude\c--Projekt-Trainings-azure-basics-training\a7a6b8eb-22f3-4b42-aecc-5af05d1502b1\scratchpad\folien\assets\icons\FaQuestion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317113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301752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Hypervisor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84048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Typ 1 oder Typ 2: VirtualBox, Hyper-V?</a:t>
            </a:r>
            <a:endParaRPr lang="en-US" sz="1600" dirty="0"/>
          </a:p>
        </p:txBody>
      </p:sp>
      <p:sp>
        <p:nvSpPr>
          <p:cNvPr id="9" name="karte"/>
          <p:cNvSpPr/>
          <p:nvPr/>
        </p:nvSpPr>
        <p:spPr>
          <a:xfrm>
            <a:off x="4338218" y="2743200"/>
            <a:ext cx="351525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0" name="icon-kreis-FaQuestionCircle"/>
          <p:cNvSpPr/>
          <p:nvPr/>
        </p:nvSpPr>
        <p:spPr>
          <a:xfrm>
            <a:off x="4612538" y="301752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1" name="icon-FaQuestionCircle" descr="C:\Users\Thanam\AppData\Local\Temp\claude\c--Projekt-Trainings-azure-basics-training\a7a6b8eb-22f3-4b42-aecc-5af05d1502b1\scratchpad\folien\assets\icons\FaQuestion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158" y="317113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35498" y="301752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cloud-init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612538" y="384048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Wann arbeitet cloud-init die Datei ab?</a:t>
            </a:r>
            <a:endParaRPr lang="en-US" sz="1600" dirty="0"/>
          </a:p>
        </p:txBody>
      </p:sp>
      <p:sp>
        <p:nvSpPr>
          <p:cNvPr id="14" name="karte"/>
          <p:cNvSpPr/>
          <p:nvPr/>
        </p:nvSpPr>
        <p:spPr>
          <a:xfrm>
            <a:off x="8127797" y="2743200"/>
            <a:ext cx="351525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5" name="icon-kreis-FaQuestionCircle"/>
          <p:cNvSpPr/>
          <p:nvPr/>
        </p:nvSpPr>
        <p:spPr>
          <a:xfrm>
            <a:off x="8402117" y="301752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6" name="icon-FaQuestionCircle" descr="C:\Users\Thanam\AppData\Local\Temp\claude\c--Projekt-Trainings-azure-basics-training\a7a6b8eb-22f3-4b42-aecc-5af05d1502b1\scratchpad\folien\assets\icons\FaQuestion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736" y="317113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225077" y="301752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Docker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8402117" y="384048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Ein Kollege sagt: «Docker ist auch ein Hypervisor.» Stimmt das?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Zum Nachlesen</a:t>
            </a:r>
            <a:endParaRPr lang="en-US" sz="3400" dirty="0"/>
          </a:p>
        </p:txBody>
      </p:sp>
      <p:sp>
        <p:nvSpPr>
          <p:cNvPr id="3" name="icon-kreis-FaBook"/>
          <p:cNvSpPr/>
          <p:nvPr/>
        </p:nvSpPr>
        <p:spPr>
          <a:xfrm>
            <a:off x="548640" y="2446020"/>
            <a:ext cx="548640" cy="54864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4" name="icon-FaBook" descr="C:\Users\Thanam\AppData\Local\Temp\claude\c--Projekt-Trainings-azure-basics-training\a7a6b8eb-22f3-4b42-aecc-5af05d1502b1\scratchpad\folien\assets\icons\Fa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314" y="2577694"/>
            <a:ext cx="285293" cy="28529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2240280"/>
            <a:ext cx="103171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303A"/>
                </a:solidFill>
              </a:rPr>
              <a:t>Theorie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F6F6F"/>
                </a:solidFill>
              </a:rPr>
              <a:t>theorie/01-virtualisierung.md</a:t>
            </a:r>
            <a:endParaRPr lang="en-US" sz="1800" dirty="0"/>
          </a:p>
        </p:txBody>
      </p:sp>
      <p:sp>
        <p:nvSpPr>
          <p:cNvPr id="6" name="icon-kreis-FaGraduationCap"/>
          <p:cNvSpPr/>
          <p:nvPr/>
        </p:nvSpPr>
        <p:spPr>
          <a:xfrm>
            <a:off x="548640" y="3406140"/>
            <a:ext cx="548640" cy="54864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7" name="icon-FaGraduationCap" descr="C:\Users\Thanam\AppData\Local\Temp\claude\c--Projekt-Trainings-azure-basics-training\a7a6b8eb-22f3-4b42-aecc-5af05d1502b1\scratchpad\folien\assets\icons\FaGraduationC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14" y="3537814"/>
            <a:ext cx="285293" cy="28529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3200400"/>
            <a:ext cx="103171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303A"/>
                </a:solidFill>
              </a:rPr>
              <a:t>Microsoft und Canonical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F6F6F"/>
                </a:solidFill>
              </a:rPr>
              <a:t>Was ist Virtualisierung? · Multipass-Dokumentation</a:t>
            </a:r>
            <a:endParaRPr lang="en-US" sz="1800" dirty="0"/>
          </a:p>
        </p:txBody>
      </p:sp>
      <p:sp>
        <p:nvSpPr>
          <p:cNvPr id="9" name="icon-kreis-FaBook"/>
          <p:cNvSpPr/>
          <p:nvPr/>
        </p:nvSpPr>
        <p:spPr>
          <a:xfrm>
            <a:off x="548640" y="4366260"/>
            <a:ext cx="548640" cy="54864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0" name="icon-FaBook" descr="C:\Users\Thanam\AppData\Local\Temp\claude\c--Projekt-Trainings-azure-basics-training\a7a6b8eb-22f3-4b42-aecc-5af05d1502b1\scratchpad\folien\assets\icons\Fa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14" y="4497934"/>
            <a:ext cx="285293" cy="285293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4160520"/>
            <a:ext cx="103171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303A"/>
                </a:solidFill>
              </a:rPr>
              <a:t>TBZ M346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F6F6F"/>
                </a:solidFill>
              </a:rPr>
              <a:t>Virtualisierung, Multipass, KN01 (übernommen und vereinfacht)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1554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7303A"/>
                </a:solidFill>
              </a:rPr>
              <a:t>Jetzt du</a:t>
            </a:r>
            <a:endParaRPr lang="en-US" sz="40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25603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6FAD"/>
                </a:solidFill>
              </a:rPr>
              <a:t>Auftrag 1.1–1.6 · ⭐ 1.7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T Cloud Solutions">
  <a:themeElements>
    <a:clrScheme name="PAT Cloud Solutions">
      <a:dk1>
        <a:srgbClr val="27303A"/>
      </a:dk1>
      <a:lt1>
        <a:srgbClr val="FFFFFF"/>
      </a:lt1>
      <a:dk2>
        <a:srgbClr val="0E0E0E"/>
      </a:dk2>
      <a:lt2>
        <a:srgbClr val="F7F7F7"/>
      </a:lt2>
      <a:accent1>
        <a:srgbClr val="006FAD"/>
      </a:accent1>
      <a:accent2>
        <a:srgbClr val="DEE2FB"/>
      </a:accent2>
      <a:accent3>
        <a:srgbClr val="6F6F6F"/>
      </a:accent3>
      <a:accent4>
        <a:srgbClr val="2E7D32"/>
      </a:accent4>
      <a:accent5>
        <a:srgbClr val="B3261E"/>
      </a:accent5>
      <a:accent6>
        <a:srgbClr val="D5D8F4"/>
      </a:accent6>
      <a:hlink>
        <a:srgbClr val="006FAD"/>
      </a:hlink>
      <a:folHlink>
        <a:srgbClr val="27303A"/>
      </a:folHlink>
    </a:clrScheme>
    <a:fontScheme name="PAT Cloud Solution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PAT Cloud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Input: Virtualisierung</dc:title>
  <dc:subject>PptxGenJS Presentation</dc:subject>
  <dc:creator>PAT Cloud Solutions</dc:creator>
  <cp:lastModifiedBy>PAT Cloud Solutions</cp:lastModifiedBy>
  <cp:revision>1</cp:revision>
  <dcterms:created xsi:type="dcterms:W3CDTF">2026-10-25T19:46:03Z</dcterms:created>
  <dcterms:modified xsi:type="dcterms:W3CDTF">2026-10-25T19:46:03Z</dcterms:modified>
</cp:coreProperties>
</file>