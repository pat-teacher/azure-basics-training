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ufbau" id="{142eee3c-39fc-afcb-a6ee-9fbd2a84b7d1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Werkzeuge" id="{38ff2890-2ee3-2b51-21d7-81ad298e824d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Theorie: theorie/03-azure-aufbau.md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Alltagsvergleich: Region = Stadt, Zonen = Quartiere mit eigenem Strom- und Wassernetz. Live: Azure-Infrastrukturkarte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Verwaltungsgruppen nur in grossen Firmen. Für den Kurs relevant: Abonnement und Ressourcengruppe.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Portal, CLI und Bicep schicken ihre Anfrage an ARM. Darum ist das Ergebnis immer gleich.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 in der Cloud Shell. --output table und --query zeigen.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Optionaler Auftrag 2.7. Nicht im Vertragsumfang, darum als Zusatz.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Region = Gebiet mit mehreren RZ, Zone = unabhängiger Teil darin. VM wird mitgelöscht. az group list --output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011680"/>
            <a:ext cx="3200400" cy="1947672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6" name="Text 0"/>
          <p:cNvSpPr/>
          <p:nvPr/>
        </p:nvSpPr>
        <p:spPr>
          <a:xfrm>
            <a:off x="548640" y="6126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EE2FB"/>
                </a:solidFill>
              </a:rPr>
              <a:t>Kanton Zürich · ICT-Grundbildung · PAT Cloud Solutions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EL">
    <p:bg>
      <p:bgPr>
        <a:solidFill>
          <a:srgbClr val="006FA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wol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0" y="2194560"/>
            <a:ext cx="2743200" cy="1664208"/>
          </a:xfrm>
          <a:prstGeom prst="rect">
            <a:avLst/>
          </a:prstGeom>
        </p:spPr>
      </p:pic>
      <p:pic>
        <p:nvPicPr>
          <p:cNvPr id="3" name="Image 1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263640"/>
            <a:ext cx="1371600" cy="356616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dunk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82512"/>
            <a:ext cx="1060704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28800" y="6336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6F6F"/>
                </a:solidFill>
              </a:rPr>
              <a:t>Einführung in Cloud Computing mit Microsoft Azure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27303A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E">
    <p:bg>
      <p:bgPr>
        <a:solidFill>
          <a:srgbClr val="273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Thanam\AppData\Local\Temp\claude\c--Projekt-Trainings-azure-basics-training\a9e0bf4e-0d08-4082-a38a-5b8886538508\scratchpad\pptx\assets\logo-h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468880" cy="64008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EE2FB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031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Aufbau von Azure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94760"/>
            <a:ext cx="7589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Input 2 und 3 · Tag 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Regionen und Verfügbarkeitszonen (Availability Zones)</a:t>
            </a:r>
            <a:endParaRPr lang="en-US" sz="3400" dirty="0"/>
          </a:p>
        </p:txBody>
      </p:sp>
      <p:pic>
        <p:nvPicPr>
          <p:cNvPr id="3" name="diagramm" descr="Regionen und Verfügbarkeitszonen (Availability Zones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72671"/>
            <a:ext cx="11094415" cy="44155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Warum ist die Region wichtig?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19456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Bolt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Bolt" descr="C:\Users\Thanam\AppData\Local\Temp\claude\c--Projekt-Trainings-azure-basics-training\a9e0bf4e-0d08-4082-a38a-5b8886538508\scratchpad\pptx\assets\icons\FaBo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62249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46888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Nähe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9184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Kurze Wege, schnelle Antwortzeiten.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19456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ShieldAlt"/>
          <p:cNvSpPr/>
          <p:nvPr/>
        </p:nvSpPr>
        <p:spPr>
          <a:xfrm>
            <a:off x="4612538" y="246888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ShieldAlt" descr="C:\Users\Thanam\AppData\Local\Temp\claude\c--Projekt-Trainings-azure-basics-training\a9e0bf4e-0d08-4082-a38a-5b8886538508\scratchpad\pptx\assets\icons\FaShield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62249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46888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Recht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29184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Daten von Schweizer Firmen sollen oft in der Schweiz bleiben.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19456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Coins"/>
          <p:cNvSpPr/>
          <p:nvPr/>
        </p:nvSpPr>
        <p:spPr>
          <a:xfrm>
            <a:off x="8402117" y="246888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Coins" descr="C:\Users\Thanam\AppData\Local\Temp\claude\c--Projekt-Trainings-azure-basics-training\a9e0bf4e-0d08-4082-a38a-5b8886538508\scratchpad\pptx\assets\icons\FaCoi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62249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46888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Preis und Angebot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29184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Nicht jede VM-Grösse gibt es überall. Preise unterscheiden sich.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66928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Azure for Students erlaubt oft nur bestimmte Regionen – prüfe zuerst, welche (Auftrag 2.2).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Vom Mandanten (Tenant) bis zur Ressource</a:t>
            </a:r>
            <a:endParaRPr lang="en-US" sz="3400" dirty="0"/>
          </a:p>
        </p:txBody>
      </p:sp>
      <p:pic>
        <p:nvPicPr>
          <p:cNvPr id="3" name="diagramm" descr="Vom Mandanten (Tenant) bis zur Ressour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6124" y="1325880"/>
            <a:ext cx="9459448" cy="4709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Die Ressourcengruppe (Resource Group)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FolderOpen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FolderOpen" descr="C:\Users\Thanam\AppData\Local\Temp\claude\c--Projekt-Trainings-azure-basics-training\a9e0bf4e-0d08-4082-a38a-5b8886538508\scratchpad\pptx\assets\icons\FaFolder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Ein Ordner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für alles, was zusammengehört und gemeinsam lebt und stirbt.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4338218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TrashAlt"/>
          <p:cNvSpPr/>
          <p:nvPr/>
        </p:nvSpPr>
        <p:spPr>
          <a:xfrm>
            <a:off x="461253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TrashAlt" descr="C:\Users\Thanam\AppData\Local\Temp\claude\c--Projekt-Trainings-azure-basics-training\a9e0bf4e-0d08-4082-a38a-5b8886538508\scratchpad\pptx\assets\icons\FaTrashA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35498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Löschen = alles weg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Genau das nutzt du am Ende jedes Labs zum Aufräumen.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8127797" y="244602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ClipboardList"/>
          <p:cNvSpPr/>
          <p:nvPr/>
        </p:nvSpPr>
        <p:spPr>
          <a:xfrm>
            <a:off x="8402117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ClipboardList" descr="C:\Users\Thanam\AppData\Local\Temp\claude\c--Projekt-Trainings-azure-basics-training\a9e0bf4e-0d08-4082-a38a-5b8886538508\scratchpad\pptx\assets\icons\FaClipboardL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225077" y="272034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Tags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354330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Etiketten wie kurs=azure-basics – zum Filtern und für die Kostenanalyse.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Ein Eingang für alles: Azure Resource Manager</a:t>
            </a:r>
            <a:endParaRPr lang="en-US" sz="3400" dirty="0"/>
          </a:p>
        </p:txBody>
      </p:sp>
      <p:pic>
        <p:nvPicPr>
          <p:cNvPr id="3" name="diagramm" descr="Ein Eingang für alles: Azure Resource Manag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492" y="1325880"/>
            <a:ext cx="11002710" cy="4709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title" hasCustomPrompt="1"/>
          </p:nvPr>
        </p:nvSpPr>
        <p:spPr>
          <a:xfrm>
            <a:off x="548640" y="219456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Cloud Shell und Azure CLI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3" type="body" hasCustomPrompt="1"/>
          </p:nvPr>
        </p:nvSpPr>
        <p:spPr>
          <a:xfrm>
            <a:off x="548640" y="3703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Input 3 · Tag 2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Werkzeuge</a:t>
            </a:r>
            <a:endParaRPr lang="en-US" sz="3400" dirty="0"/>
          </a:p>
        </p:txBody>
      </p:sp>
      <p:sp>
        <p:nvSpPr>
          <p:cNvPr id="3" name="karte"/>
          <p:cNvSpPr/>
          <p:nvPr/>
        </p:nvSpPr>
        <p:spPr>
          <a:xfrm>
            <a:off x="548640" y="244602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GlobeEurope"/>
          <p:cNvSpPr/>
          <p:nvPr/>
        </p:nvSpPr>
        <p:spPr>
          <a:xfrm>
            <a:off x="822960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GlobeEurope" descr="C:\Users\Thanam\AppData\Local\Temp\claude\c--Projekt-Trainings-azure-basics-training\a9e0bf4e-0d08-4082-a38a-5b8886538508\scratchpad\pptx\assets\icons\FaGlobeEur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8739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2720340"/>
            <a:ext cx="124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Portal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54330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portal.azure.com – zum Lernen und Kontrollieren</a:t>
            </a:r>
            <a:endParaRPr lang="en-US" sz="1600" dirty="0"/>
          </a:p>
        </p:txBody>
      </p:sp>
      <p:sp>
        <p:nvSpPr>
          <p:cNvPr id="8" name="karte"/>
          <p:cNvSpPr/>
          <p:nvPr/>
        </p:nvSpPr>
        <p:spPr>
          <a:xfrm>
            <a:off x="3390824" y="244602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icon-kreis-FaTerminal"/>
          <p:cNvSpPr/>
          <p:nvPr/>
        </p:nvSpPr>
        <p:spPr>
          <a:xfrm>
            <a:off x="3665144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0" name="icon-FaTerminal" descr="C:\Users\Thanam\AppData\Local\Temp\claude\c--Projekt-Trainings-azure-basics-training\a9e0bf4e-0d08-4082-a38a-5b8886538508\scratchpad\pptx\assets\icons\Fa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763" y="287395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8104" y="2720340"/>
            <a:ext cx="124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Cloud Shell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54330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Terminal im Browser, CLI schon angemeldet</a:t>
            </a:r>
            <a:endParaRPr lang="en-US" sz="1600" dirty="0"/>
          </a:p>
        </p:txBody>
      </p:sp>
      <p:sp>
        <p:nvSpPr>
          <p:cNvPr id="13" name="karte"/>
          <p:cNvSpPr/>
          <p:nvPr/>
        </p:nvSpPr>
        <p:spPr>
          <a:xfrm>
            <a:off x="6233008" y="244602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4" name="icon-kreis-FaCode"/>
          <p:cNvSpPr/>
          <p:nvPr/>
        </p:nvSpPr>
        <p:spPr>
          <a:xfrm>
            <a:off x="6507328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5" name="icon-FaCode" descr="C:\Users\Thanam\AppData\Local\Temp\claude\c--Projekt-Trainings-azure-basics-training\a9e0bf4e-0d08-4082-a38a-5b8886538508\scratchpad\pptx\assets\icons\Fa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947" y="28739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30288" y="2720340"/>
            <a:ext cx="124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Azure CLI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54330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az … – wiederholbar, für Skripte</a:t>
            </a:r>
            <a:endParaRPr lang="en-US" sz="1600" dirty="0"/>
          </a:p>
        </p:txBody>
      </p:sp>
      <p:sp>
        <p:nvSpPr>
          <p:cNvPr id="18" name="karte"/>
          <p:cNvSpPr/>
          <p:nvPr/>
        </p:nvSpPr>
        <p:spPr>
          <a:xfrm>
            <a:off x="9075191" y="2446020"/>
            <a:ext cx="2567864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9" name="icon-kreis-FaFileCode"/>
          <p:cNvSpPr/>
          <p:nvPr/>
        </p:nvSpPr>
        <p:spPr>
          <a:xfrm>
            <a:off x="9349511" y="272034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20" name="icon-FaFileCode" descr="C:\Users\Thanam\AppData\Local\Temp\claude\c--Projekt-Trainings-azure-basics-training\a9e0bf4e-0d08-4082-a38a-5b8886538508\scratchpad\pptx\assets\icons\FaFile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3131" y="28739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172471" y="2720340"/>
            <a:ext cx="1241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Bicep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54330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Infrastruktur als Code – Tag 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So ist ein CLI-Befehl aufgebaut</a:t>
            </a:r>
            <a:endParaRPr lang="en-US" sz="3400" dirty="0"/>
          </a:p>
        </p:txBody>
      </p:sp>
      <p:sp>
        <p:nvSpPr>
          <p:cNvPr id="3" name="code-box"/>
          <p:cNvSpPr/>
          <p:nvPr/>
        </p:nvSpPr>
        <p:spPr>
          <a:xfrm>
            <a:off x="548640" y="1325880"/>
            <a:ext cx="6035040" cy="4709160"/>
          </a:xfrm>
          <a:prstGeom prst="roundRect">
            <a:avLst>
              <a:gd name="adj" fmla="val 1942"/>
            </a:avLst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54864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group create \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rg-tag2-mm \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--location switzerlandnorth \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--tags kurs=azure-basics tag=2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group list --output table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 group delete \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7F7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--name rg-tag2-mm --yes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949440" y="1325880"/>
            <a:ext cx="46936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az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die Azure CLI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949440" y="2468880"/>
            <a:ext cx="46936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group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Ressourcentyp: group, vm, storage account, network vnet …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3611880"/>
            <a:ext cx="46936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create / list / delete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Aktion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4754880"/>
            <a:ext cx="46936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06FAD"/>
                </a:solidFill>
              </a:rPr>
              <a:t>--name, --location …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7303A"/>
                </a:solidFill>
              </a:rPr>
              <a:t>Parameter. Hilfe: az group create --help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Nützliche Helfer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4538624"/>
                <a:gridCol w="65557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Befehl / Option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Wirkung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30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 &lt;befehl&gt; --help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alle Optionen und Beispiele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--output table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lesbare Tabelle statt JSON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--query "[].name"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nur bestimmte Felder anzeigen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 account show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Mit welchem Konto und Abonnement bin ich verbunden?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az group list -o table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7303A"/>
                          </a:solidFill>
                        </a:rPr>
                        <a:t>Welche Ressourcengruppen habe ich?</a:t>
                      </a:r>
                      <a:endParaRPr lang="en-US" sz="1700" dirty="0"/>
                    </a:p>
                  </a:txBody>
                  <a:tcPr marL="127000" marR="127000" marT="88900" marB="88900" anchor="ctr">
                    <a:lnL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8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Ausblick: Wer darf was?</a:t>
            </a:r>
            <a:endParaRPr lang="en-US" sz="3400" dirty="0"/>
          </a:p>
        </p:txBody>
      </p:sp>
      <p:sp>
        <p:nvSpPr>
          <p:cNvPr id="3" name="vergleich"/>
          <p:cNvSpPr/>
          <p:nvPr/>
        </p:nvSpPr>
        <p:spPr>
          <a:xfrm>
            <a:off x="548640" y="13258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icon-kreis-FaUserShield"/>
          <p:cNvSpPr/>
          <p:nvPr/>
        </p:nvSpPr>
        <p:spPr>
          <a:xfrm>
            <a:off x="868680" y="1600200"/>
            <a:ext cx="685800" cy="68580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5" name="icon-FaUserShield" descr="C:\Users\Thanam\AppData\Local\Temp\claude\c--Projekt-Trainings-azure-basics-training\a9e0bf4e-0d08-4082-a38a-5b8886538508\scratchpad\pptx\assets\icons\FaUser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764792"/>
            <a:ext cx="356616" cy="3566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60020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303A"/>
                </a:solidFill>
              </a:rPr>
              <a:t>Rollen (RBAC)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7242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Rolle: Leser, Mitwirkender, Besitzer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für einen Bereich (Scope), z. B. eine Ressourcengruppe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Merksatz: wer – was – wo</a:t>
            </a:r>
            <a:endParaRPr lang="en-US" sz="1800" dirty="0"/>
          </a:p>
        </p:txBody>
      </p:sp>
      <p:sp>
        <p:nvSpPr>
          <p:cNvPr id="8" name="vergleich"/>
          <p:cNvSpPr/>
          <p:nvPr/>
        </p:nvSpPr>
        <p:spPr>
          <a:xfrm>
            <a:off x="6278728" y="1325880"/>
            <a:ext cx="5364328" cy="4160520"/>
          </a:xfrm>
          <a:prstGeom prst="roundRect">
            <a:avLst>
              <a:gd name="adj" fmla="val 2637"/>
            </a:avLst>
          </a:prstGeom>
          <a:solidFill>
            <a:srgbClr val="DEE2FB"/>
          </a:solidFill>
          <a:ln w="12700">
            <a:solidFill>
              <a:srgbClr val="DEE2FB"/>
            </a:solidFill>
            <a:prstDash val="solid"/>
          </a:ln>
        </p:spPr>
      </p:sp>
      <p:sp>
        <p:nvSpPr>
          <p:cNvPr id="9" name="icon-kreis-FaLock"/>
          <p:cNvSpPr/>
          <p:nvPr/>
        </p:nvSpPr>
        <p:spPr>
          <a:xfrm>
            <a:off x="6598768" y="1600200"/>
            <a:ext cx="685800" cy="685800"/>
          </a:xfrm>
          <a:prstGeom prst="ellipse">
            <a:avLst/>
          </a:prstGeom>
          <a:solidFill>
            <a:srgbClr val="27303A"/>
          </a:solidFill>
          <a:ln w="12700">
            <a:solidFill>
              <a:srgbClr val="27303A"/>
            </a:solidFill>
            <a:prstDash val="solid"/>
          </a:ln>
        </p:spPr>
      </p:sp>
      <p:pic>
        <p:nvPicPr>
          <p:cNvPr id="10" name="icon-FaLock" descr="C:\Users\Thanam\AppData\Local\Temp\claude\c--Projekt-Trainings-azure-basics-training\a9e0bf4e-0d08-4082-a38a-5b8886538508\scratchpad\pptx\assets\icons\Fa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360" y="176479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67448" y="1600200"/>
            <a:ext cx="3901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303A"/>
                </a:solidFill>
              </a:rPr>
              <a:t>Bedingter Zugriff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598768" y="2514600"/>
            <a:ext cx="47242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Regeln für die Anmeldung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z. B. nur mit Multi-Faktor-Authentifizierung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7303A"/>
                </a:solidFill>
              </a:rPr>
              <a:t>auf Englisch: Conditional Access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FAD"/>
                </a:solidFill>
              </a:rPr>
              <a:t>Üben nur in den Challenge Labs (Learn on Demand) – Azure for Students hat keine Rechte in Entra ID.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Selbsttest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F6F"/>
                </a:solidFill>
              </a:rPr>
              <a:t>Erst selbst überlegen, dann mit dem Nachbarn vergleichen.</a:t>
            </a:r>
            <a:endParaRPr lang="en-US" sz="1600" dirty="0"/>
          </a:p>
        </p:txBody>
      </p:sp>
      <p:sp>
        <p:nvSpPr>
          <p:cNvPr id="4" name="karte"/>
          <p:cNvSpPr/>
          <p:nvPr/>
        </p:nvSpPr>
        <p:spPr>
          <a:xfrm>
            <a:off x="548640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icon-kreis-FaQuestionCircle"/>
          <p:cNvSpPr/>
          <p:nvPr/>
        </p:nvSpPr>
        <p:spPr>
          <a:xfrm>
            <a:off x="822960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31711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Region oder Zone?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Was ist der Unterschied zwischen einer Region und einer Verfügbarkeitszone?</a:t>
            </a:r>
            <a:endParaRPr lang="en-US" sz="1600" dirty="0"/>
          </a:p>
        </p:txBody>
      </p:sp>
      <p:sp>
        <p:nvSpPr>
          <p:cNvPr id="9" name="karte"/>
          <p:cNvSpPr/>
          <p:nvPr/>
        </p:nvSpPr>
        <p:spPr>
          <a:xfrm>
            <a:off x="4338218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icon-kreis-FaQuestionCircle"/>
          <p:cNvSpPr/>
          <p:nvPr/>
        </p:nvSpPr>
        <p:spPr>
          <a:xfrm>
            <a:off x="4612538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1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6158" y="31711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35498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Löschen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Du löschst rg-tag3-mm. Was passiert mit der VM darin?</a:t>
            </a:r>
            <a:endParaRPr lang="en-US" sz="1600" dirty="0"/>
          </a:p>
        </p:txBody>
      </p:sp>
      <p:sp>
        <p:nvSpPr>
          <p:cNvPr id="14" name="karte"/>
          <p:cNvSpPr/>
          <p:nvPr/>
        </p:nvSpPr>
        <p:spPr>
          <a:xfrm>
            <a:off x="8127797" y="2743200"/>
            <a:ext cx="3515258" cy="2468880"/>
          </a:xfrm>
          <a:prstGeom prst="roundRect">
            <a:avLst>
              <a:gd name="adj" fmla="val 4444"/>
            </a:avLst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5" name="icon-kreis-FaQuestionCircle"/>
          <p:cNvSpPr/>
          <p:nvPr/>
        </p:nvSpPr>
        <p:spPr>
          <a:xfrm>
            <a:off x="8402117" y="3017520"/>
            <a:ext cx="640080" cy="64008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16" name="icon-FaQuestionCircle" descr="C:\Users\Thanam\AppData\Local\Temp\claude\c--Projekt-Trainings-azure-basics-training\a9e0bf4e-0d08-4082-a38a-5b8886538508\scratchpad\pptx\assets\icons\FaQuestion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5736" y="317113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25077" y="3017520"/>
            <a:ext cx="21893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7303A"/>
                </a:solidFill>
              </a:rPr>
              <a:t>CLI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840480"/>
            <a:ext cx="29666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7303A"/>
                </a:solidFill>
              </a:rPr>
              <a:t>Wie zeigst du alle Ressourcengruppen als Tabelle an?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7303A"/>
                </a:solidFill>
              </a:rPr>
              <a:t>Zum Nachlesen</a:t>
            </a:r>
            <a:endParaRPr lang="en-US" sz="3400" dirty="0"/>
          </a:p>
        </p:txBody>
      </p:sp>
      <p:sp>
        <p:nvSpPr>
          <p:cNvPr id="3" name="icon-kreis-FaBook"/>
          <p:cNvSpPr/>
          <p:nvPr/>
        </p:nvSpPr>
        <p:spPr>
          <a:xfrm>
            <a:off x="548640" y="292608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4" name="icon-FaBook" descr="C:\Users\Thanam\AppData\Local\Temp\claude\c--Projekt-Trainings-azure-basics-training\a9e0bf4e-0d08-4082-a38a-5b8886538508\scratchpad\pptx\assets\icons\Fa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305775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272034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Theorie im Repository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theorie/03-azure-aufbau.md</a:t>
            </a:r>
            <a:endParaRPr lang="en-US" sz="1800" dirty="0"/>
          </a:p>
        </p:txBody>
      </p:sp>
      <p:sp>
        <p:nvSpPr>
          <p:cNvPr id="6" name="icon-kreis-FaGraduationCap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006FAD"/>
          </a:solidFill>
          <a:ln w="12700">
            <a:solidFill>
              <a:srgbClr val="006FAD"/>
            </a:solidFill>
            <a:prstDash val="solid"/>
          </a:ln>
        </p:spPr>
      </p:sp>
      <p:pic>
        <p:nvPicPr>
          <p:cNvPr id="7" name="icon-FaGraduationCap" descr="C:\Users\Thanam\AppData\Local\Temp\claude\c--Projekt-Trainings-azure-basics-training\a9e0bf4e-0d08-4082-a38a-5b8886538508\scratchpad\pptx\assets\icons\FaGraduationC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4017874"/>
            <a:ext cx="285293" cy="28529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3680460"/>
            <a:ext cx="103171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303A"/>
                </a:solidFill>
              </a:rPr>
              <a:t>Microsoft Learn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F6F6F"/>
                </a:solidFill>
              </a:rPr>
              <a:t>Beschreiben der Kernkomponenten der Azure-Architektur · Erste Schritte mit der Azure CLI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336792"/>
            <a:ext cx="457200" cy="36576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6F6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1554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Jetzt du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2560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EE2FB"/>
                </a:solidFill>
              </a:rPr>
              <a:t>Auftrag 2.2–2.4: Abonnement erkunden, Ressourcengruppe im Portal und mit der CLI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T Cloud Solutions">
  <a:themeElements>
    <a:clrScheme name="PAT Cloud Solutions">
      <a:dk1>
        <a:srgbClr val="27303A"/>
      </a:dk1>
      <a:lt1>
        <a:srgbClr val="FFFFFF"/>
      </a:lt1>
      <a:dk2>
        <a:srgbClr val="0E0E0E"/>
      </a:dk2>
      <a:lt2>
        <a:srgbClr val="F7F7F7"/>
      </a:lt2>
      <a:accent1>
        <a:srgbClr val="006FAD"/>
      </a:accent1>
      <a:accent2>
        <a:srgbClr val="DEE2FB"/>
      </a:accent2>
      <a:accent3>
        <a:srgbClr val="6F6F6F"/>
      </a:accent3>
      <a:accent4>
        <a:srgbClr val="2E7D32"/>
      </a:accent4>
      <a:accent5>
        <a:srgbClr val="B3261E"/>
      </a:accent5>
      <a:accent6>
        <a:srgbClr val="D5D8F4"/>
      </a:accent6>
      <a:hlink>
        <a:srgbClr val="006FAD"/>
      </a:hlink>
      <a:folHlink>
        <a:srgbClr val="27303A"/>
      </a:folHlink>
    </a:clrScheme>
    <a:fontScheme name="PAT Cloud Solution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PAT Cloud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Input: Aufbau von Azure</dc:title>
  <dc:subject>PptxGenJS Presentation</dc:subject>
  <dc:creator>PAT Cloud Solutions</dc:creator>
  <cp:lastModifiedBy>PAT Cloud Solutions</cp:lastModifiedBy>
  <cp:revision>1</cp:revision>
  <dcterms:created xsi:type="dcterms:W3CDTF">2026-10-20T10:46:31Z</dcterms:created>
  <dcterms:modified xsi:type="dcterms:W3CDTF">2026-10-20T10:46:31Z</dcterms:modified>
</cp:coreProperties>
</file>