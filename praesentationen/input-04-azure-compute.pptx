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mpute" id="{cf14d45a-52cf-a4f9-4187-a166cae69565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Theorie: theorie/04-azure-compute.md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Live-Demo: VM im Portal erstellen, danach die Ressourcengruppe öffnen und alle Teile zeigen.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Verfügbarkeit im Student-Abo vorher prüfen: Filter «Für kostenlose Dienste berechtigt».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VM, Disk, NIC, VNet, öffentliche IP, NSG. Ja. Zwei vCPUs.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7a6b8eb-22f3-4b42-aecc-5af05d1502b1\scratchpad\folien\assets\logo-dunk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7a6b8eb-22f3-4b42-aecc-5af05d1502b1\scratchpad\folien\assets\wolk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011680"/>
            <a:ext cx="3200400" cy="1947672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006FAD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/>
        </p:nvSpPr>
        <p:spPr>
          <a:xfrm>
            <a:off x="548640" y="6126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6F6F"/>
                </a:solidFill>
              </a:rPr>
              <a:t>Kanton Zürich · ICT-Grundbildung · PAT Cloud Solutions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PITEL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7a6b8eb-22f3-4b42-aecc-5af05d1502b1\scratchpad\folien\assets\wol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2194560"/>
            <a:ext cx="2743200" cy="1664208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7a6b8eb-22f3-4b42-aecc-5af05d1502b1\scratchpad\folien\assets\logo-dunk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263640"/>
            <a:ext cx="1371600" cy="356616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9456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0332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006FAD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7a6b8eb-22f3-4b42-aecc-5af05d1502b1\scratchpad\folien\assets\logo-dunk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1060704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828800" y="633679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F6F"/>
                </a:solidFill>
              </a:rPr>
              <a:t>Einführung in Cloud Computing mit Microsoft Azure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7a6b8eb-22f3-4b42-aecc-5af05d1502b1\scratchpad\folien\assets\logo-dunk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006FAD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1.png"/><Relationship Id="rId3" Type="http://schemas.openxmlformats.org/officeDocument/2006/relationships/image" Target="../media/image-8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27303A"/>
                </a:solidFill>
              </a:rPr>
              <a:t>Azure Compute: virtuelle Maschinen</a:t>
            </a:r>
            <a:endParaRPr lang="en-US" sz="44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006FAD"/>
                </a:solidFill>
              </a:rPr>
              <a:t>Input 1 · Tag 3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Woraus besteht eine Azure-VM?</a:t>
            </a:r>
            <a:endParaRPr lang="en-US" sz="3400" dirty="0"/>
          </a:p>
        </p:txBody>
      </p:sp>
      <p:pic>
        <p:nvPicPr>
          <p:cNvPr id="3" name="diagramm" descr="Woraus besteht eine Azure-VM?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61727"/>
            <a:ext cx="11094415" cy="463746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Vergleich mit deiner VM von Tag 1</a:t>
            </a:r>
            <a:endParaRPr lang="en-US" sz="3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4538624"/>
                <a:gridCol w="3530041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Azure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Aufgabe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Tag 1 (Multipass)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Virtuelle Maschine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CPU und RAM (Compute)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--cpus, --memory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OS-Datenträger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Disk mit dem Betriebssystem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--disk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Netzwerkschnittstelle (NIC)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verbindet mit dem Subnetz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IP in multipass list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VNet + Subnetz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privates Netz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kleines Netz von Hyper-V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Öffentliche IP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erreichbar aus dem Internet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gab es nicht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NSG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Firewall-Regeln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gab es nicht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VM-Grössen lesen</a:t>
            </a:r>
            <a:endParaRPr lang="en-US" sz="3400" dirty="0"/>
          </a:p>
        </p:txBody>
      </p:sp>
      <p:sp>
        <p:nvSpPr>
          <p:cNvPr id="3" name="code-box"/>
          <p:cNvSpPr/>
          <p:nvPr/>
        </p:nvSpPr>
        <p:spPr>
          <a:xfrm>
            <a:off x="548640" y="1325880"/>
            <a:ext cx="5669280" cy="4709160"/>
          </a:xfrm>
          <a:prstGeom prst="roundRect">
            <a:avLst>
              <a:gd name="adj" fmla="val 1942"/>
            </a:avLst>
          </a:prstGeom>
          <a:solidFill>
            <a:srgbClr val="27303A"/>
          </a:solidFill>
          <a:ln w="12700">
            <a:solidFill>
              <a:srgbClr val="2730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512064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Standard_B2ats_v2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│││││ └ Version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││││└ s = Premium SSD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│││└ t = wenig RAM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││└ a = AMD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│└ 2 = vCPUs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└ B = Serie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583680" y="1325880"/>
            <a:ext cx="50593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Standard_B1s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1 vCPU, 1 GiB RAM – Übungen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583680" y="2468880"/>
            <a:ext cx="50593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Standard_B2ats_v2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2 vCPU, 1 GiB RAM – Übungen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583680" y="3611880"/>
            <a:ext cx="50593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Standard_B2s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2 vCPU, 4 GiB RAM – etwas mehr Last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583680" y="4754880"/>
            <a:ext cx="50593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B-Serie = burstable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sammelt Guthaben bei wenig Last – ideal für Übungen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Status und Kosten</a:t>
            </a:r>
            <a:endParaRPr lang="en-US" sz="3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4034333"/>
                <a:gridCol w="3530041"/>
                <a:gridCol w="3530041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Status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Was läuft?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Was kostet?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Wird ausgeführt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alles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Compute + Disk + IP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Beendet (sudo poweroff)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nichts – Hardware bleibt reserviert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weiterhin Compute + Disk + IP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Beendet (Zuordnung aufgehoben)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nichts – Hardware frei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nur Disk + IP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Gelöscht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–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nichts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FAD"/>
                </a:solidFill>
              </a:rPr>
              <a:t>Herunterfahren aus der VM spart kein Geld. Am einfachsten: Ressourcengruppe löschen.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Anmelden mit deinem SSH-Schlüssel</a:t>
            </a:r>
            <a:endParaRPr lang="en-US" sz="3400" dirty="0"/>
          </a:p>
        </p:txBody>
      </p:sp>
      <p:sp>
        <p:nvSpPr>
          <p:cNvPr id="3" name="schritt"/>
          <p:cNvSpPr/>
          <p:nvPr/>
        </p:nvSpPr>
        <p:spPr>
          <a:xfrm>
            <a:off x="548640" y="1691640"/>
            <a:ext cx="3423818" cy="3017520"/>
          </a:xfrm>
          <a:prstGeom prst="roundRect">
            <a:avLst>
              <a:gd name="adj" fmla="val 3636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schritt-nr"/>
          <p:cNvSpPr/>
          <p:nvPr/>
        </p:nvSpPr>
        <p:spPr>
          <a:xfrm>
            <a:off x="1940509" y="196596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40509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743200"/>
            <a:ext cx="30580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7303A"/>
                </a:solidFill>
              </a:rPr>
              <a:t>Anzeigen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429000"/>
            <a:ext cx="305805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7303A"/>
                </a:solidFill>
              </a:rPr>
              <a:t>In PowerShell: Get-Content ~\.ssh\id_ed25519.pub</a:t>
            </a:r>
            <a:endParaRPr lang="en-US" sz="1600" dirty="0"/>
          </a:p>
        </p:txBody>
      </p:sp>
      <p:sp>
        <p:nvSpPr>
          <p:cNvPr id="8" name="pfeil"/>
          <p:cNvSpPr/>
          <p:nvPr/>
        </p:nvSpPr>
        <p:spPr>
          <a:xfrm>
            <a:off x="4036466" y="3063240"/>
            <a:ext cx="283464" cy="274320"/>
          </a:xfrm>
          <a:prstGeom prst="rightArrow">
            <a:avLst/>
          </a:prstGeom>
          <a:solidFill>
            <a:srgbClr val="6F6F6F"/>
          </a:solidFill>
          <a:ln w="12700">
            <a:solidFill>
              <a:srgbClr val="6F6F6F"/>
            </a:solidFill>
            <a:prstDash val="solid"/>
          </a:ln>
        </p:spPr>
      </p:sp>
      <p:sp>
        <p:nvSpPr>
          <p:cNvPr id="9" name="schritt"/>
          <p:cNvSpPr/>
          <p:nvPr/>
        </p:nvSpPr>
        <p:spPr>
          <a:xfrm>
            <a:off x="4383938" y="1691640"/>
            <a:ext cx="3423818" cy="3017520"/>
          </a:xfrm>
          <a:prstGeom prst="roundRect">
            <a:avLst>
              <a:gd name="adj" fmla="val 3636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schritt-nr"/>
          <p:cNvSpPr/>
          <p:nvPr/>
        </p:nvSpPr>
        <p:spPr>
          <a:xfrm>
            <a:off x="5775808" y="196596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775808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566818" y="2743200"/>
            <a:ext cx="30580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7303A"/>
                </a:solidFill>
              </a:rPr>
              <a:t>Mitgeben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566818" y="3429000"/>
            <a:ext cx="305805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7303A"/>
                </a:solidFill>
              </a:rPr>
              <a:t>Im Portal als vorhandenen öffentlichen Schlüssel einfügen</a:t>
            </a:r>
            <a:endParaRPr lang="en-US" sz="1600" dirty="0"/>
          </a:p>
        </p:txBody>
      </p:sp>
      <p:sp>
        <p:nvSpPr>
          <p:cNvPr id="14" name="pfeil"/>
          <p:cNvSpPr/>
          <p:nvPr/>
        </p:nvSpPr>
        <p:spPr>
          <a:xfrm>
            <a:off x="7871765" y="3063240"/>
            <a:ext cx="283464" cy="274320"/>
          </a:xfrm>
          <a:prstGeom prst="rightArrow">
            <a:avLst/>
          </a:prstGeom>
          <a:solidFill>
            <a:srgbClr val="6F6F6F"/>
          </a:solidFill>
          <a:ln w="12700">
            <a:solidFill>
              <a:srgbClr val="6F6F6F"/>
            </a:solidFill>
            <a:prstDash val="solid"/>
          </a:ln>
        </p:spPr>
      </p:sp>
      <p:sp>
        <p:nvSpPr>
          <p:cNvPr id="15" name="schritt"/>
          <p:cNvSpPr/>
          <p:nvPr/>
        </p:nvSpPr>
        <p:spPr>
          <a:xfrm>
            <a:off x="8219237" y="1691640"/>
            <a:ext cx="3423818" cy="3017520"/>
          </a:xfrm>
          <a:prstGeom prst="roundRect">
            <a:avLst>
              <a:gd name="adj" fmla="val 3636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6" name="schritt-nr"/>
          <p:cNvSpPr/>
          <p:nvPr/>
        </p:nvSpPr>
        <p:spPr>
          <a:xfrm>
            <a:off x="9611106" y="196596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11106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402117" y="2743200"/>
            <a:ext cx="30580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7303A"/>
                </a:solidFill>
              </a:rPr>
              <a:t>Verbinden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402117" y="3429000"/>
            <a:ext cx="305805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7303A"/>
                </a:solidFill>
              </a:rPr>
              <a:t>ssh azureuser@&lt;öffentliche-ip&gt; – vom Laptop aus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07492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7303A"/>
                </a:solidFill>
              </a:rPr>
              <a:t>Den privaten Schlüssel gibst du nie heraus. In Azure landet nur der öffentliche.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Wenn SSH nicht klappt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4538624"/>
                <a:gridCol w="6555791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Meldung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Häufige Ursache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Connection timed out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Port 22 in der NSG zu, falsche IP, VM gestoppt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Permission denied (publickey)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falscher Schlüssel oder falscher Benutzername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REMOTE HOST IDENTIFICATION HAS CHANGED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neue VM unter alter IP → ssh-keygen -R &lt;ip&gt;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Selbsttest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6F6F"/>
                </a:solidFill>
              </a:rPr>
              <a:t>Erst selbst überlegen, dann mit dem Nachbarn vergleichen.</a:t>
            </a:r>
            <a:endParaRPr lang="en-US" sz="1600" dirty="0"/>
          </a:p>
        </p:txBody>
      </p:sp>
      <p:sp>
        <p:nvSpPr>
          <p:cNvPr id="4" name="karte"/>
          <p:cNvSpPr/>
          <p:nvPr/>
        </p:nvSpPr>
        <p:spPr>
          <a:xfrm>
            <a:off x="548640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5" name="icon-kreis-FaQuestionCircle"/>
          <p:cNvSpPr/>
          <p:nvPr/>
        </p:nvSpPr>
        <p:spPr>
          <a:xfrm>
            <a:off x="822960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6" name="icon-FaQuestionCircle" descr="C:\Users\Thanam\AppData\Local\Temp\claude\c--Projekt-Trainings-azure-basics-training\a7a6b8eb-22f3-4b42-aecc-5af05d1502b1\scratchpad\folien\assets\icons\FaQuestion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31711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Bestandteile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Welche Ressourcen findest du nach dem Erstellen einer VM in der Ressourcengruppe?</a:t>
            </a:r>
            <a:endParaRPr lang="en-US" sz="1600" dirty="0"/>
          </a:p>
        </p:txBody>
      </p:sp>
      <p:sp>
        <p:nvSpPr>
          <p:cNvPr id="9" name="karte"/>
          <p:cNvSpPr/>
          <p:nvPr/>
        </p:nvSpPr>
        <p:spPr>
          <a:xfrm>
            <a:off x="4338218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icon-kreis-FaQuestionCircle"/>
          <p:cNvSpPr/>
          <p:nvPr/>
        </p:nvSpPr>
        <p:spPr>
          <a:xfrm>
            <a:off x="4612538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1" name="icon-FaQuestionCircle" descr="C:\Users\Thanam\AppData\Local\Temp\claude\c--Projekt-Trainings-azure-basics-training\a7a6b8eb-22f3-4b42-aecc-5af05d1502b1\scratchpad\folien\assets\icons\FaQuestion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317113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35498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Kosten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612538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Kostet die VM nach sudo poweroff noch etwas?</a:t>
            </a:r>
            <a:endParaRPr lang="en-US" sz="1600" dirty="0"/>
          </a:p>
        </p:txBody>
      </p:sp>
      <p:sp>
        <p:nvSpPr>
          <p:cNvPr id="14" name="karte"/>
          <p:cNvSpPr/>
          <p:nvPr/>
        </p:nvSpPr>
        <p:spPr>
          <a:xfrm>
            <a:off x="8127797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5" name="icon-kreis-FaQuestionCircle"/>
          <p:cNvSpPr/>
          <p:nvPr/>
        </p:nvSpPr>
        <p:spPr>
          <a:xfrm>
            <a:off x="8402117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6" name="icon-FaQuestionCircle" descr="C:\Users\Thanam\AppData\Local\Temp\claude\c--Projekt-Trainings-azure-basics-training\a7a6b8eb-22f3-4b42-aecc-5af05d1502b1\scratchpad\folien\assets\icons\FaQuestion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317113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225077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Grösse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402117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Was bedeutet die 2 in Standard_B2s?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Zum Nachlesen</a:t>
            </a:r>
            <a:endParaRPr lang="en-US" sz="3400" dirty="0"/>
          </a:p>
        </p:txBody>
      </p:sp>
      <p:sp>
        <p:nvSpPr>
          <p:cNvPr id="3" name="icon-kreis-FaBook"/>
          <p:cNvSpPr/>
          <p:nvPr/>
        </p:nvSpPr>
        <p:spPr>
          <a:xfrm>
            <a:off x="548640" y="292608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4" name="icon-FaBook" descr="C:\Users\Thanam\AppData\Local\Temp\claude\c--Projekt-Trainings-azure-basics-training\a7a6b8eb-22f3-4b42-aecc-5af05d1502b1\scratchpad\folien\assets\icons\FaBoo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3057754"/>
            <a:ext cx="285293" cy="28529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272034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Theorie im Repository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theorie/04-azure-compute.md</a:t>
            </a:r>
            <a:endParaRPr lang="en-US" sz="1800" dirty="0"/>
          </a:p>
        </p:txBody>
      </p:sp>
      <p:sp>
        <p:nvSpPr>
          <p:cNvPr id="6" name="icon-kreis-FaGraduationCap"/>
          <p:cNvSpPr/>
          <p:nvPr/>
        </p:nvSpPr>
        <p:spPr>
          <a:xfrm>
            <a:off x="548640" y="388620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7" name="icon-FaGraduationCap" descr="C:\Users\Thanam\AppData\Local\Temp\claude\c--Projekt-Trainings-azure-basics-training\a7a6b8eb-22f3-4b42-aecc-5af05d1502b1\scratchpad\folien\assets\icons\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401787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368046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Microsoft Learn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Erstellen einer Linux-VM in Azure · Zustände und Abrechnung von VMs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7303A"/>
                </a:solidFill>
              </a:rPr>
              <a:t>Jetzt du</a:t>
            </a:r>
            <a:endParaRPr lang="en-US" sz="4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006FAD"/>
                </a:solidFill>
              </a:rPr>
              <a:t>Auftrag 3.1: Linux-VM im Portal erstellen und per SSH verbinden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T Cloud Solutions">
  <a:themeElements>
    <a:clrScheme name="PAT Cloud Solutions">
      <a:dk1>
        <a:srgbClr val="27303A"/>
      </a:dk1>
      <a:lt1>
        <a:srgbClr val="FFFFFF"/>
      </a:lt1>
      <a:dk2>
        <a:srgbClr val="0E0E0E"/>
      </a:dk2>
      <a:lt2>
        <a:srgbClr val="F7F7F7"/>
      </a:lt2>
      <a:accent1>
        <a:srgbClr val="006FAD"/>
      </a:accent1>
      <a:accent2>
        <a:srgbClr val="DEE2FB"/>
      </a:accent2>
      <a:accent3>
        <a:srgbClr val="6F6F6F"/>
      </a:accent3>
      <a:accent4>
        <a:srgbClr val="2E7D32"/>
      </a:accent4>
      <a:accent5>
        <a:srgbClr val="B3261E"/>
      </a:accent5>
      <a:accent6>
        <a:srgbClr val="D5D8F4"/>
      </a:accent6>
      <a:hlink>
        <a:srgbClr val="006FAD"/>
      </a:hlink>
      <a:folHlink>
        <a:srgbClr val="27303A"/>
      </a:folHlink>
    </a:clrScheme>
    <a:fontScheme name="PAT Cloud Solution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PAT Cloud Solutions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Input: Azure Compute</dc:title>
  <dc:subject>PptxGenJS Presentation</dc:subject>
  <dc:creator>PAT Cloud Solutions</dc:creator>
  <cp:lastModifiedBy>PAT Cloud Solutions</cp:lastModifiedBy>
  <cp:revision>1</cp:revision>
  <dcterms:created xsi:type="dcterms:W3CDTF">2026-10-25T19:46:04Z</dcterms:created>
  <dcterms:modified xsi:type="dcterms:W3CDTF">2026-10-25T19:46:04Z</dcterms:modified>
</cp:coreProperties>
</file>