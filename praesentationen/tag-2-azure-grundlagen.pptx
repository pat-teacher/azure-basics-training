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aa4c6517-7f03-53da-e74f-a925fb0209cc}">
          <p14:sldIdLst>
            <p14:sldId id="256"/>
            <p14:sldId id="257"/>
          </p14:sldIdLst>
        </p14:section>
        <p14:section name="Heute" id="{b5d60fb0-e291-e7be-31a6-ea9223b20aa2}">
          <p14:sldIdLst>
            <p14:sldId id="258"/>
            <p14:sldId id="259"/>
            <p14:sldId id="260"/>
            <p14:sldId id="261"/>
          </p14:sldIdLst>
        </p14:section>
        <p14:section name="Abschluss" id="{50df2e42-bf47-6a06-6d15-8c48ebcc19b7}">
          <p14:sldIdLst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Begrüssung, Stimmung abholen.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Lösungen: Typ 2 / Typ 1 / Typ 1. multipass launch --name &lt;name&gt;. Nur beim ersten Start. Danach 2–3 Exit-Tickets vorlesen.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Trainingsschlüssel im Teams-Kanal bereitstellen. Labs vorher im Microsoft Learn for Educators Portal der Klasse zuweisen.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7a6b8eb-22f3-4b42-aecc-5af05d1502b1\scratchpad\folien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7a6b8eb-22f3-4b42-aecc-5af05d1502b1\scratchpad\folien\assets\wolk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011680"/>
            <a:ext cx="3200400" cy="1947672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006FAD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/>
        </p:nvSpPr>
        <p:spPr>
          <a:xfrm>
            <a:off x="548640" y="6126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F6F"/>
                </a:solidFill>
              </a:rPr>
              <a:t>Kanton Zürich · ICT-Grundbildung · PAT Cloud Solutions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PITEL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7a6b8eb-22f3-4b42-aecc-5af05d1502b1\scratchpad\folien\assets\wol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2194560"/>
            <a:ext cx="2743200" cy="1664208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7a6b8eb-22f3-4b42-aecc-5af05d1502b1\scratchpad\folien\assets\logo-dunk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263640"/>
            <a:ext cx="1371600" cy="356616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9456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0332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006FAD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7a6b8eb-22f3-4b42-aecc-5af05d1502b1\scratchpad\folien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060704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828800" y="6336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F"/>
                </a:solidFill>
              </a:rPr>
              <a:t>Einführung in Cloud Computing mit Microsoft Azure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7a6b8eb-22f3-4b42-aecc-5af05d1502b1\scratchpad\folien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006FAD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1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27303A"/>
                </a:solidFill>
              </a:rPr>
              <a:t>Tag 2: Public Cloud und Azure Grundlagen</a:t>
            </a:r>
            <a:endParaRPr lang="en-US" sz="44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006FAD"/>
                </a:solidFill>
              </a:rPr>
              <a:t>Einführung in Cloud Computing mit Microsoft Azure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Rückblick Tag 1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6F6F"/>
                </a:solidFill>
              </a:rPr>
              <a:t>Beantworte die Fragen mit deinem Partner – 5 Minuten.</a:t>
            </a:r>
            <a:endParaRPr lang="en-US" sz="1600" dirty="0"/>
          </a:p>
        </p:txBody>
      </p:sp>
      <p:sp>
        <p:nvSpPr>
          <p:cNvPr id="4" name="karte"/>
          <p:cNvSpPr/>
          <p:nvPr/>
        </p:nvSpPr>
        <p:spPr>
          <a:xfrm>
            <a:off x="548640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5" name="icon-kreis-FaQuestionCircle"/>
          <p:cNvSpPr/>
          <p:nvPr/>
        </p:nvSpPr>
        <p:spPr>
          <a:xfrm>
            <a:off x="822960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6" name="icon-FaQuestionCircle" descr="C:\Users\Thanam\AppData\Local\Temp\claude\c--Projekt-Trainings-azure-basics-training\a7a6b8eb-22f3-4b42-aecc-5af05d1502b1\scratchpad\folien\assets\icons\FaQuestion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31711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Typ 1 oder Typ 2?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VirtualBox, Hyper-V, VMware ESXi – ordne zu.</a:t>
            </a:r>
            <a:endParaRPr lang="en-US" sz="1600" dirty="0"/>
          </a:p>
        </p:txBody>
      </p:sp>
      <p:sp>
        <p:nvSpPr>
          <p:cNvPr id="9" name="karte"/>
          <p:cNvSpPr/>
          <p:nvPr/>
        </p:nvSpPr>
        <p:spPr>
          <a:xfrm>
            <a:off x="4338218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icon-kreis-FaQuestionCircle"/>
          <p:cNvSpPr/>
          <p:nvPr/>
        </p:nvSpPr>
        <p:spPr>
          <a:xfrm>
            <a:off x="4612538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1" name="icon-FaQuestionCircle" descr="C:\Users\Thanam\AppData\Local\Temp\claude\c--Projekt-Trainings-azure-basics-training\a7a6b8eb-22f3-4b42-aecc-5af05d1502b1\scratchpad\folien\assets\icons\FaQuestion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317113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35498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Multipass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612538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Mit welchem Befehl erstellst du eine neue VM?</a:t>
            </a:r>
            <a:endParaRPr lang="en-US" sz="1600" dirty="0"/>
          </a:p>
        </p:txBody>
      </p:sp>
      <p:sp>
        <p:nvSpPr>
          <p:cNvPr id="14" name="karte"/>
          <p:cNvSpPr/>
          <p:nvPr/>
        </p:nvSpPr>
        <p:spPr>
          <a:xfrm>
            <a:off x="8127797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icon-kreis-FaQuestionCircle"/>
          <p:cNvSpPr/>
          <p:nvPr/>
        </p:nvSpPr>
        <p:spPr>
          <a:xfrm>
            <a:off x="8402117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6" name="icon-FaQuestionCircle" descr="C:\Users\Thanam\AppData\Local\Temp\claude\c--Projekt-Trainings-azure-basics-training\a7a6b8eb-22f3-4b42-aecc-5af05d1502b1\scratchpad\folien\assets\icons\FaQuestion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317113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225077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cloud-init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402117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Wann arbeitet cloud-init seine Datei ab?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Deine Ziele heute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Cloud"/>
          <p:cNvSpPr/>
          <p:nvPr/>
        </p:nvSpPr>
        <p:spPr>
          <a:xfrm>
            <a:off x="822960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Cloud" descr="C:\Users\Thanam\AppData\Local\Temp\claude\c--Projekt-Trainings-azure-basics-training\a7a6b8eb-22f3-4b42-aecc-5af05d1502b1\scratchpad\folien\assets\icons\FaClou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8739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Servicemodelle (K2)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unterscheidest IaaS, PaaS und SaaS und ordnest Beispiele zu.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4338218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GlobeEurope"/>
          <p:cNvSpPr/>
          <p:nvPr/>
        </p:nvSpPr>
        <p:spPr>
          <a:xfrm>
            <a:off x="4612538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GlobeEurope" descr="C:\Users\Thanam\AppData\Local\Temp\claude\c--Projekt-Trainings-azure-basics-training\a7a6b8eb-22f3-4b42-aecc-5af05d1502b1\scratchpad\folien\assets\icons\FaGlobeEurop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28739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35498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Aufbau von Azure (K2)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12538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erklärst Region, Zone, Abonnement und Ressourcengruppe.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8127797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Terminal"/>
          <p:cNvSpPr/>
          <p:nvPr/>
        </p:nvSpPr>
        <p:spPr>
          <a:xfrm>
            <a:off x="8402117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Terminal" descr="C:\Users\Thanam\AppData\Local\Temp\claude\c--Projekt-Trainings-azure-basics-training\a7a6b8eb-22f3-4b42-aecc-5af05d1502b1\scratchpad\folien\assets\icons\FaTermin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28739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225077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Portal und CLI (K3)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402117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erstellst, findest und löschst Ressourcen im Portal und mit der Azure CLI.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Ablauf</a:t>
            </a:r>
            <a:endParaRPr lang="en-US" sz="3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210300"/>
                <a:gridCol w="2218883"/>
                <a:gridCol w="7665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Lektion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Phase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Inhalt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L1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Einstieg, Input 1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Rückblick · Vom Hypervisor zum Hyperscaler, IaaS/PaaS/SaaS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L2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Auftrag 2.1: IaaS, PaaS oder SaaS?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L3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Input 2, 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Aufbau von Azure · Auftrag 2.2: Dein Abonnement erkunden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L4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Auftrag 2.3: Erste Ressourcengruppe im Portal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L5–L6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Input 3, 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Cloud Shell und Azure CLI · Auftrag 2.4: Ressourcengruppe mit der CLI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L7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Auftrag 2.5: Regionen recherchieren · ⭐ 2.6 Learn-Modul · ⭐ 2.7 Challenge Lab RBAC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L8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Abschluss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Aufräumen kontrollieren · Quiz · Exit-Ticket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Deine Aufträge</a:t>
            </a:r>
            <a:endParaRPr lang="en-US" sz="3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167833"/>
                <a:gridCol w="7785555"/>
                <a:gridCol w="214102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Nr.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Auftrag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Form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2.1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IaaS, PaaS oder SaaS? Dienste zuordnen und begründen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Partner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2.2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Dein Azure-Abonnement erkunden (Guthaben, erlaubte Regionen, Kostenanalyse)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2.3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Erste Ressourcengruppe im Portal mit Tags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2.4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Dieselbe Ressourcengruppe mit der Azure CLI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2.5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Azure-Regionen recherchieren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Partner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⭐ 2.6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Microsoft-Learn-Modul: Kernkomponenten der Azure-Architektur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⭐ 2.7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Challenge Lab «Azure RBAC konfigurieren» (Learn on Demand)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Partner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Entra ID üben: Challenge Labs</a:t>
            </a:r>
            <a:endParaRPr lang="en-US" sz="3400" dirty="0"/>
          </a:p>
        </p:txBody>
      </p:sp>
      <p:sp>
        <p:nvSpPr>
          <p:cNvPr id="3" name="schritt"/>
          <p:cNvSpPr/>
          <p:nvPr/>
        </p:nvSpPr>
        <p:spPr>
          <a:xfrm>
            <a:off x="548640" y="1691640"/>
            <a:ext cx="2464994" cy="3017520"/>
          </a:xfrm>
          <a:prstGeom prst="roundRect">
            <a:avLst>
              <a:gd name="adj" fmla="val 4451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schritt-nr"/>
          <p:cNvSpPr/>
          <p:nvPr/>
        </p:nvSpPr>
        <p:spPr>
          <a:xfrm>
            <a:off x="1461097" y="196596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61097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743200"/>
            <a:ext cx="20992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7303A"/>
                </a:solidFill>
              </a:rPr>
              <a:t>Anmelden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429000"/>
            <a:ext cx="209923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7303A"/>
                </a:solidFill>
              </a:rPr>
              <a:t>msle.learnondemand.net mit dem Trainingsschlüssel der Kursleitung</a:t>
            </a:r>
            <a:endParaRPr lang="en-US" sz="1600" dirty="0"/>
          </a:p>
        </p:txBody>
      </p:sp>
      <p:sp>
        <p:nvSpPr>
          <p:cNvPr id="8" name="pfeil"/>
          <p:cNvSpPr/>
          <p:nvPr/>
        </p:nvSpPr>
        <p:spPr>
          <a:xfrm>
            <a:off x="3077642" y="3063240"/>
            <a:ext cx="283464" cy="274320"/>
          </a:xfrm>
          <a:prstGeom prst="rightArrow">
            <a:avLst/>
          </a:prstGeom>
          <a:solidFill>
            <a:srgbClr val="6F6F6F"/>
          </a:solidFill>
          <a:ln w="12700">
            <a:solidFill>
              <a:srgbClr val="6F6F6F"/>
            </a:solidFill>
            <a:prstDash val="solid"/>
          </a:ln>
        </p:spPr>
      </p:sp>
      <p:sp>
        <p:nvSpPr>
          <p:cNvPr id="9" name="schritt"/>
          <p:cNvSpPr/>
          <p:nvPr/>
        </p:nvSpPr>
        <p:spPr>
          <a:xfrm>
            <a:off x="3425114" y="1691640"/>
            <a:ext cx="2464994" cy="3017520"/>
          </a:xfrm>
          <a:prstGeom prst="roundRect">
            <a:avLst>
              <a:gd name="adj" fmla="val 4451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schritt-nr"/>
          <p:cNvSpPr/>
          <p:nvPr/>
        </p:nvSpPr>
        <p:spPr>
          <a:xfrm>
            <a:off x="4337571" y="196596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37571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607994" y="2743200"/>
            <a:ext cx="20992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7303A"/>
                </a:solidFill>
              </a:rPr>
              <a:t>Registrieren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607994" y="3429000"/>
            <a:ext cx="209923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7303A"/>
                </a:solidFill>
              </a:rPr>
              <a:t>Skillable-Konto anlegen, damit du später wieder hineinkommst</a:t>
            </a:r>
            <a:endParaRPr lang="en-US" sz="1600" dirty="0"/>
          </a:p>
        </p:txBody>
      </p:sp>
      <p:sp>
        <p:nvSpPr>
          <p:cNvPr id="14" name="pfeil"/>
          <p:cNvSpPr/>
          <p:nvPr/>
        </p:nvSpPr>
        <p:spPr>
          <a:xfrm>
            <a:off x="5954116" y="3063240"/>
            <a:ext cx="283464" cy="274320"/>
          </a:xfrm>
          <a:prstGeom prst="rightArrow">
            <a:avLst/>
          </a:prstGeom>
          <a:solidFill>
            <a:srgbClr val="6F6F6F"/>
          </a:solidFill>
          <a:ln w="12700">
            <a:solidFill>
              <a:srgbClr val="6F6F6F"/>
            </a:solidFill>
            <a:prstDash val="solid"/>
          </a:ln>
        </p:spPr>
      </p:sp>
      <p:sp>
        <p:nvSpPr>
          <p:cNvPr id="15" name="schritt"/>
          <p:cNvSpPr/>
          <p:nvPr/>
        </p:nvSpPr>
        <p:spPr>
          <a:xfrm>
            <a:off x="6301588" y="1691640"/>
            <a:ext cx="2464994" cy="3017520"/>
          </a:xfrm>
          <a:prstGeom prst="roundRect">
            <a:avLst>
              <a:gd name="adj" fmla="val 4451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6" name="schritt-nr"/>
          <p:cNvSpPr/>
          <p:nvPr/>
        </p:nvSpPr>
        <p:spPr>
          <a:xfrm>
            <a:off x="7214045" y="196596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14045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484468" y="2743200"/>
            <a:ext cx="20992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7303A"/>
                </a:solidFill>
              </a:rPr>
              <a:t>Lab starten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6484468" y="3429000"/>
            <a:ext cx="209923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7303A"/>
                </a:solidFill>
              </a:rPr>
              <a:t>Meine Schulung &gt; Klasse &gt; Challenge Lab wählen</a:t>
            </a:r>
            <a:endParaRPr lang="en-US" sz="1600" dirty="0"/>
          </a:p>
        </p:txBody>
      </p:sp>
      <p:sp>
        <p:nvSpPr>
          <p:cNvPr id="20" name="pfeil"/>
          <p:cNvSpPr/>
          <p:nvPr/>
        </p:nvSpPr>
        <p:spPr>
          <a:xfrm>
            <a:off x="8830589" y="3063240"/>
            <a:ext cx="283464" cy="274320"/>
          </a:xfrm>
          <a:prstGeom prst="rightArrow">
            <a:avLst/>
          </a:prstGeom>
          <a:solidFill>
            <a:srgbClr val="6F6F6F"/>
          </a:solidFill>
          <a:ln w="12700">
            <a:solidFill>
              <a:srgbClr val="6F6F6F"/>
            </a:solidFill>
            <a:prstDash val="solid"/>
          </a:ln>
        </p:spPr>
      </p:sp>
      <p:sp>
        <p:nvSpPr>
          <p:cNvPr id="21" name="schritt"/>
          <p:cNvSpPr/>
          <p:nvPr/>
        </p:nvSpPr>
        <p:spPr>
          <a:xfrm>
            <a:off x="9178061" y="1691640"/>
            <a:ext cx="2464994" cy="3017520"/>
          </a:xfrm>
          <a:prstGeom prst="roundRect">
            <a:avLst>
              <a:gd name="adj" fmla="val 4451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22" name="schritt-nr"/>
          <p:cNvSpPr/>
          <p:nvPr/>
        </p:nvSpPr>
        <p:spPr>
          <a:xfrm>
            <a:off x="10090518" y="196596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090518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4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9360941" y="2743200"/>
            <a:ext cx="20992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7303A"/>
                </a:solidFill>
              </a:rPr>
              <a:t>Arbeiten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9360941" y="3429000"/>
            <a:ext cx="209923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7303A"/>
                </a:solidFill>
              </a:rPr>
              <a:t>Vorbereitete Umgebung mit temporärem Konto, Anleitung im zweiten Fenster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507492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7303A"/>
                </a:solidFill>
              </a:rPr>
              <a:t>Mit Azure for Students hast du keine Rechte in Entra ID. Challenge Labs lassen sich nur wenige Male starten (meist 3) – erst starten, wenn du Zeit hast.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Abschluss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2446020"/>
            <a:ext cx="541004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TrashAlt"/>
          <p:cNvSpPr/>
          <p:nvPr/>
        </p:nvSpPr>
        <p:spPr>
          <a:xfrm>
            <a:off x="822960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TrashAlt" descr="C:\Users\Thanam\AppData\Local\Temp\claude\c--Projekt-Trainings-azure-basics-training\a7a6b8eb-22f3-4b42-aecc-5af05d1502b1\scratchpad\folien\assets\icons\FaTrashA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8739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7203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Aufräumen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43300"/>
            <a:ext cx="48614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az group list -o table – alle Ressourcengruppen von heute gelöscht?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6233008" y="2446020"/>
            <a:ext cx="541004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DoorOpen"/>
          <p:cNvSpPr/>
          <p:nvPr/>
        </p:nvSpPr>
        <p:spPr>
          <a:xfrm>
            <a:off x="6507328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DoorOpen" descr="C:\Users\Thanam\AppData\Local\Temp\claude\c--Projekt-Trainings-azure-basics-training\a7a6b8eb-22f3-4b42-aecc-5af05d1502b1\scratchpad\folien\assets\icons\FaDoorOp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0947" y="28739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30288" y="27203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Exit-Ticket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507328" y="3543300"/>
            <a:ext cx="48614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Erkläre einem Kollegen in zwei Sätzen, was eine Ressourcengruppe ist.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7303A"/>
                </a:solidFill>
              </a:rPr>
              <a:t>Nächstes Mal: deine erste VM in Azure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006FAD"/>
                </a:solidFill>
              </a:rPr>
              <a:t>Tag 3 · Azure Compute und Storage</a:t>
            </a:r>
            <a:endParaRPr lang="en-US" sz="2000" dirty="0"/>
          </a:p>
        </p:txBody>
      </p:sp>
      <p:sp>
        <p:nvSpPr>
          <p:cNvPr id="4" name="karte"/>
          <p:cNvSpPr/>
          <p:nvPr/>
        </p:nvSpPr>
        <p:spPr>
          <a:xfrm>
            <a:off x="548640" y="3611880"/>
            <a:ext cx="5410048" cy="2103120"/>
          </a:xfrm>
          <a:prstGeom prst="roundRect">
            <a:avLst>
              <a:gd name="adj" fmla="val 521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5" name="icon-kreis-FaKey"/>
          <p:cNvSpPr/>
          <p:nvPr/>
        </p:nvSpPr>
        <p:spPr>
          <a:xfrm>
            <a:off x="822960" y="3886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6" name="icon-FaKey" descr="C:\Users\Thanam\AppData\Local\Temp\claude\c--Projekt-Trainings-azure-basics-training\a7a6b8eb-22f3-4b42-aecc-5af05d1502b1\scratchpad\folien\assets\icons\FaK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4039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3886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SSH-Schlüssel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709160"/>
            <a:ext cx="486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7303A"/>
                </a:solidFill>
              </a:rPr>
              <a:t>Den Schlüssel von Tag 1 brauchst du wieder.</a:t>
            </a:r>
            <a:endParaRPr lang="en-US" sz="1600" dirty="0"/>
          </a:p>
        </p:txBody>
      </p:sp>
      <p:sp>
        <p:nvSpPr>
          <p:cNvPr id="9" name="karte"/>
          <p:cNvSpPr/>
          <p:nvPr/>
        </p:nvSpPr>
        <p:spPr>
          <a:xfrm>
            <a:off x="6233008" y="3611880"/>
            <a:ext cx="5410048" cy="2103120"/>
          </a:xfrm>
          <a:prstGeom prst="roundRect">
            <a:avLst>
              <a:gd name="adj" fmla="val 521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icon-kreis-FaServer"/>
          <p:cNvSpPr/>
          <p:nvPr/>
        </p:nvSpPr>
        <p:spPr>
          <a:xfrm>
            <a:off x="6507328" y="3886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1" name="icon-FaServer" descr="C:\Users\Thanam\AppData\Local\Temp\claude\c--Projekt-Trainings-azure-basics-training\a7a6b8eb-22f3-4b42-aecc-5af05d1502b1\scratchpad\folien\assets\icons\Fa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0947" y="403981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330288" y="3886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VM in Azure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6507328" y="4709160"/>
            <a:ext cx="486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7303A"/>
                </a:solidFill>
              </a:rPr>
              <a:t>Vergleich mit deiner lokalen VM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T Cloud Solutions">
  <a:themeElements>
    <a:clrScheme name="PAT Cloud Solutions">
      <a:dk1>
        <a:srgbClr val="27303A"/>
      </a:dk1>
      <a:lt1>
        <a:srgbClr val="FFFFFF"/>
      </a:lt1>
      <a:dk2>
        <a:srgbClr val="0E0E0E"/>
      </a:dk2>
      <a:lt2>
        <a:srgbClr val="F7F7F7"/>
      </a:lt2>
      <a:accent1>
        <a:srgbClr val="006FAD"/>
      </a:accent1>
      <a:accent2>
        <a:srgbClr val="DEE2FB"/>
      </a:accent2>
      <a:accent3>
        <a:srgbClr val="6F6F6F"/>
      </a:accent3>
      <a:accent4>
        <a:srgbClr val="2E7D32"/>
      </a:accent4>
      <a:accent5>
        <a:srgbClr val="B3261E"/>
      </a:accent5>
      <a:accent6>
        <a:srgbClr val="D5D8F4"/>
      </a:accent6>
      <a:hlink>
        <a:srgbClr val="006FAD"/>
      </a:hlink>
      <a:folHlink>
        <a:srgbClr val="27303A"/>
      </a:folHlink>
    </a:clrScheme>
    <a:fontScheme name="PAT Cloud Solution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PAT Cloud Solutions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Tag 2: Public Cloud und Azure Grundlagen</dc:title>
  <dc:subject>PptxGenJS Presentation</dc:subject>
  <dc:creator>PAT Cloud Solutions</dc:creator>
  <cp:lastModifiedBy>PAT Cloud Solutions</cp:lastModifiedBy>
  <cp:revision>1</cp:revision>
  <dcterms:created xsi:type="dcterms:W3CDTF">2026-10-25T19:18:34Z</dcterms:created>
  <dcterms:modified xsi:type="dcterms:W3CDTF">2026-10-25T19:18:34Z</dcterms:modified>
</cp:coreProperties>
</file>